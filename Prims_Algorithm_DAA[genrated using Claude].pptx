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m’s Algorithm" id="{9B84F1A4-FEDC-EE4A-274D-FC82473B49D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708" y="4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1553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Prim’s Algorithm, a greedy method for finding a Minimum Spanning Tree. Mention name, PRN and subject.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greedy algorithm makes the best choice available at each step and never reconsiders. For Minimum Spanning Trees this strategy is provably optimal.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original weighted graph. Right: its MST, highlighted in green. The MST keeps 4 edges (V − 1) and has the smallest total weight,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Prim’s Algorithm grows a single tree. Start from any vertex, keep choosing the cheapest edge that reaches a new vertex, and stop when all vertices are in the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numbered badges show the order in which Prim’s Algorithm selects edges starting from A. The next slide walks through each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panel: green is the edge picked, amber dashed edges were the other candidates. Total MST weight = 2 + 3 + 5 + 6 =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key[v] stores the cheapest known edge weight connecting v to the tree. parent[v] records which tree vertex that edge comes from, so the MST edges are (parent[v], 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an adjacency matrix and a linear scan, Prim’s runs in O(V²). With an adjacency list and a binary min-heap it runs in O(E log V). Space is O(V) for the helper arrays.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Prim’s Algorithm is greedy, builds an MST, always picks the cheapest valid edge, and is used in network and infrastructure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47548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8188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Greedy Approach – Prim’s Algorithm  |  DAA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81888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Greedy Approach – Prim’s Algorithm  |  DAA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9144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Greedy Approach –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Prim’s Algorithm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The Minimum Spanning Tree Problem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735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NAME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3246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Chitransh Phalkey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85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PRN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25070521183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96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SUBJECT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4069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Design and Analysis of Algorithms</a:t>
            </a:r>
            <a:endParaRPr lang="en-US" sz="1600" dirty="0"/>
          </a:p>
        </p:txBody>
      </p:sp>
      <p:sp>
        <p:nvSpPr>
          <p:cNvPr id="10" name="Title graph edge BD"/>
          <p:cNvSpPr/>
          <p:nvPr/>
        </p:nvSpPr>
        <p:spPr>
          <a:xfrm>
            <a:off x="6702552" y="1499616"/>
            <a:ext cx="0" cy="2121408"/>
          </a:xfrm>
          <a:prstGeom prst="line">
            <a:avLst/>
          </a:prstGeom>
          <a:noFill/>
          <a:ln w="19050">
            <a:solidFill>
              <a:schemeClr val="accent2">
                <a:alpha val="22000"/>
              </a:schemeClr>
            </a:solidFill>
            <a:prstDash val="solid"/>
          </a:ln>
        </p:spPr>
      </p:sp>
      <p:sp>
        <p:nvSpPr>
          <p:cNvPr id="11" name="Title graph edge CE"/>
          <p:cNvSpPr/>
          <p:nvPr/>
        </p:nvSpPr>
        <p:spPr>
          <a:xfrm flipV="1">
            <a:off x="7690104" y="1499616"/>
            <a:ext cx="576072" cy="1272845"/>
          </a:xfrm>
          <a:prstGeom prst="line">
            <a:avLst/>
          </a:prstGeom>
          <a:noFill/>
          <a:ln w="19050">
            <a:solidFill>
              <a:schemeClr val="accent2">
                <a:alpha val="22000"/>
              </a:schemeClr>
            </a:solidFill>
            <a:prstDash val="solid"/>
          </a:ln>
        </p:spPr>
      </p:sp>
      <p:sp>
        <p:nvSpPr>
          <p:cNvPr id="12" name="Title graph edge DE"/>
          <p:cNvSpPr/>
          <p:nvPr/>
        </p:nvSpPr>
        <p:spPr>
          <a:xfrm flipV="1">
            <a:off x="6702552" y="2772461"/>
            <a:ext cx="987552" cy="848563"/>
          </a:xfrm>
          <a:prstGeom prst="line">
            <a:avLst/>
          </a:prstGeom>
          <a:noFill/>
          <a:ln w="19050">
            <a:solidFill>
              <a:schemeClr val="accent2">
                <a:alpha val="22000"/>
              </a:schemeClr>
            </a:solidFill>
            <a:prstDash val="solid"/>
          </a:ln>
        </p:spPr>
      </p:sp>
      <p:sp>
        <p:nvSpPr>
          <p:cNvPr id="13" name="Title graph edge AB"/>
          <p:cNvSpPr/>
          <p:nvPr/>
        </p:nvSpPr>
        <p:spPr>
          <a:xfrm flipV="1">
            <a:off x="5852160" y="1499616"/>
            <a:ext cx="850392" cy="1060704"/>
          </a:xfrm>
          <a:prstGeom prst="line">
            <a:avLst/>
          </a:prstGeom>
          <a:noFill/>
          <a:ln w="381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14" name="Title graph edge AD"/>
          <p:cNvSpPr/>
          <p:nvPr/>
        </p:nvSpPr>
        <p:spPr>
          <a:xfrm>
            <a:off x="5852160" y="2560320"/>
            <a:ext cx="850392" cy="1060704"/>
          </a:xfrm>
          <a:prstGeom prst="line">
            <a:avLst/>
          </a:prstGeom>
          <a:noFill/>
          <a:ln w="381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15" name="Title graph edge BC"/>
          <p:cNvSpPr/>
          <p:nvPr/>
        </p:nvSpPr>
        <p:spPr>
          <a:xfrm>
            <a:off x="6702552" y="1499616"/>
            <a:ext cx="1563624" cy="0"/>
          </a:xfrm>
          <a:prstGeom prst="line">
            <a:avLst/>
          </a:prstGeom>
          <a:noFill/>
          <a:ln w="381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16" name="Title graph edge BE"/>
          <p:cNvSpPr/>
          <p:nvPr/>
        </p:nvSpPr>
        <p:spPr>
          <a:xfrm>
            <a:off x="6702552" y="1499616"/>
            <a:ext cx="987552" cy="1272845"/>
          </a:xfrm>
          <a:prstGeom prst="line">
            <a:avLst/>
          </a:prstGeom>
          <a:noFill/>
          <a:ln w="38100">
            <a:solidFill>
              <a:schemeClr val="accent2">
                <a:alpha val="65000"/>
              </a:schemeClr>
            </a:solidFill>
            <a:prstDash val="solid"/>
          </a:ln>
        </p:spPr>
      </p:sp>
      <p:sp>
        <p:nvSpPr>
          <p:cNvPr id="17" name="Title graph weight BD"/>
          <p:cNvSpPr txBox="1"/>
          <p:nvPr/>
        </p:nvSpPr>
        <p:spPr>
          <a:xfrm>
            <a:off x="6556248" y="2459736"/>
            <a:ext cx="292608" cy="20116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2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/>
                </a:solidFill>
              </a:rPr>
              <a:t>8</a:t>
            </a:r>
            <a:endParaRPr lang="en-US" sz="1000" dirty="0"/>
          </a:p>
        </p:txBody>
      </p:sp>
      <p:sp>
        <p:nvSpPr>
          <p:cNvPr id="18" name="Title graph weight CE"/>
          <p:cNvSpPr txBox="1"/>
          <p:nvPr/>
        </p:nvSpPr>
        <p:spPr>
          <a:xfrm>
            <a:off x="7831836" y="2035454"/>
            <a:ext cx="292608" cy="20116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2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/>
                </a:solidFill>
              </a:rPr>
              <a:t>7</a:t>
            </a:r>
            <a:endParaRPr lang="en-US" sz="1000" dirty="0"/>
          </a:p>
        </p:txBody>
      </p:sp>
      <p:sp>
        <p:nvSpPr>
          <p:cNvPr id="19" name="Title graph weight DE"/>
          <p:cNvSpPr txBox="1"/>
          <p:nvPr/>
        </p:nvSpPr>
        <p:spPr>
          <a:xfrm>
            <a:off x="7050024" y="3096158"/>
            <a:ext cx="292608" cy="20116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2">
                <a:alpha val="3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2"/>
                </a:solidFill>
              </a:rPr>
              <a:t>9</a:t>
            </a:r>
            <a:endParaRPr lang="en-US" sz="1000" dirty="0"/>
          </a:p>
        </p:txBody>
      </p:sp>
      <p:sp>
        <p:nvSpPr>
          <p:cNvPr id="20" name="Title graph weight AB"/>
          <p:cNvSpPr txBox="1"/>
          <p:nvPr/>
        </p:nvSpPr>
        <p:spPr>
          <a:xfrm>
            <a:off x="6131052" y="1929384"/>
            <a:ext cx="292608" cy="20116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2">
                <a:alpha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2"/>
                </a:solidFill>
              </a:rPr>
              <a:t>2</a:t>
            </a:r>
            <a:endParaRPr lang="en-US" sz="1000" dirty="0"/>
          </a:p>
        </p:txBody>
      </p:sp>
      <p:sp>
        <p:nvSpPr>
          <p:cNvPr id="21" name="Title graph weight AD"/>
          <p:cNvSpPr txBox="1"/>
          <p:nvPr/>
        </p:nvSpPr>
        <p:spPr>
          <a:xfrm>
            <a:off x="6131052" y="2990088"/>
            <a:ext cx="292608" cy="20116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2">
                <a:alpha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2"/>
                </a:solidFill>
              </a:rPr>
              <a:t>6</a:t>
            </a:r>
            <a:endParaRPr lang="en-US" sz="1000" dirty="0"/>
          </a:p>
        </p:txBody>
      </p:sp>
      <p:sp>
        <p:nvSpPr>
          <p:cNvPr id="22" name="Title graph weight BC"/>
          <p:cNvSpPr txBox="1"/>
          <p:nvPr/>
        </p:nvSpPr>
        <p:spPr>
          <a:xfrm>
            <a:off x="7338060" y="1399032"/>
            <a:ext cx="292608" cy="20116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2">
                <a:alpha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2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itle graph weight BE"/>
          <p:cNvSpPr txBox="1"/>
          <p:nvPr/>
        </p:nvSpPr>
        <p:spPr>
          <a:xfrm>
            <a:off x="7050024" y="2035454"/>
            <a:ext cx="292608" cy="20116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accent2">
                <a:alpha val="6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2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itle graph vertex A"/>
          <p:cNvSpPr txBox="1"/>
          <p:nvPr/>
        </p:nvSpPr>
        <p:spPr>
          <a:xfrm>
            <a:off x="5623560" y="2331720"/>
            <a:ext cx="45720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2">
                <a:alpha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A</a:t>
            </a:r>
            <a:endParaRPr lang="en-US" sz="1600" dirty="0"/>
          </a:p>
        </p:txBody>
      </p:sp>
      <p:sp>
        <p:nvSpPr>
          <p:cNvPr id="25" name="Title graph vertex B"/>
          <p:cNvSpPr txBox="1"/>
          <p:nvPr/>
        </p:nvSpPr>
        <p:spPr>
          <a:xfrm>
            <a:off x="6473952" y="1271016"/>
            <a:ext cx="45720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2">
                <a:alpha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B</a:t>
            </a:r>
            <a:endParaRPr lang="en-US" sz="1600" dirty="0"/>
          </a:p>
        </p:txBody>
      </p:sp>
      <p:sp>
        <p:nvSpPr>
          <p:cNvPr id="26" name="Title graph vertex C"/>
          <p:cNvSpPr txBox="1"/>
          <p:nvPr/>
        </p:nvSpPr>
        <p:spPr>
          <a:xfrm>
            <a:off x="8037576" y="1271016"/>
            <a:ext cx="45720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2">
                <a:alpha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</a:t>
            </a:r>
            <a:endParaRPr lang="en-US" sz="1600" dirty="0"/>
          </a:p>
        </p:txBody>
      </p:sp>
      <p:sp>
        <p:nvSpPr>
          <p:cNvPr id="27" name="Title graph vertex D"/>
          <p:cNvSpPr txBox="1"/>
          <p:nvPr/>
        </p:nvSpPr>
        <p:spPr>
          <a:xfrm>
            <a:off x="6473952" y="3392424"/>
            <a:ext cx="45720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2">
                <a:alpha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D</a:t>
            </a:r>
            <a:endParaRPr lang="en-US" sz="1600" dirty="0"/>
          </a:p>
        </p:txBody>
      </p:sp>
      <p:sp>
        <p:nvSpPr>
          <p:cNvPr id="28" name="Title graph vertex E"/>
          <p:cNvSpPr txBox="1"/>
          <p:nvPr/>
        </p:nvSpPr>
        <p:spPr>
          <a:xfrm>
            <a:off x="7461504" y="2543861"/>
            <a:ext cx="45720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accent2">
                <a:alpha val="65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Introduction to Greedy Approach</a:t>
            </a:r>
            <a:endParaRPr lang="en-US" sz="3200" dirty="0"/>
          </a:p>
        </p:txBody>
      </p:sp>
      <p:sp>
        <p:nvSpPr>
          <p:cNvPr id="3" name="Step 1"/>
          <p:cNvSpPr txBox="1"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09728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Greedy algorithm</a:t>
            </a:r>
            <a:r>
              <a:rPr lang="en-US" sz="1500" dirty="0">
                <a:solidFill>
                  <a:schemeClr val="tx1"/>
                </a:solidFill>
              </a:rPr>
              <a:t> – builds a solution one step at a time.</a:t>
            </a:r>
            <a:endParaRPr lang="en-US" sz="1500" dirty="0"/>
          </a:p>
        </p:txBody>
      </p:sp>
      <p:sp>
        <p:nvSpPr>
          <p:cNvPr id="5" name="Step 2"/>
          <p:cNvSpPr txBox="1"/>
          <p:nvPr/>
        </p:nvSpPr>
        <p:spPr>
          <a:xfrm>
            <a:off x="457200" y="19659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82880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Locally optimal choice</a:t>
            </a:r>
            <a:r>
              <a:rPr lang="en-US" sz="1500" dirty="0">
                <a:solidFill>
                  <a:schemeClr val="tx1"/>
                </a:solidFill>
              </a:rPr>
              <a:t> – picks the best option available right now.</a:t>
            </a:r>
            <a:endParaRPr lang="en-US" sz="1500" dirty="0"/>
          </a:p>
        </p:txBody>
      </p:sp>
      <p:sp>
        <p:nvSpPr>
          <p:cNvPr id="7" name="Step 3"/>
          <p:cNvSpPr txBox="1"/>
          <p:nvPr/>
        </p:nvSpPr>
        <p:spPr>
          <a:xfrm>
            <a:off x="457200" y="26974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56032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No going back</a:t>
            </a:r>
            <a:r>
              <a:rPr lang="en-US" sz="1500" dirty="0">
                <a:solidFill>
                  <a:schemeClr val="tx1"/>
                </a:solidFill>
              </a:rPr>
              <a:t> – a choice, once made, is never changed.</a:t>
            </a:r>
            <a:endParaRPr lang="en-US" sz="1500" dirty="0"/>
          </a:p>
        </p:txBody>
      </p:sp>
      <p:sp>
        <p:nvSpPr>
          <p:cNvPr id="9" name="Step 4"/>
          <p:cNvSpPr txBox="1"/>
          <p:nvPr/>
        </p:nvSpPr>
        <p:spPr>
          <a:xfrm>
            <a:off x="457200" y="34290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918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Prim’s Algorithm</a:t>
            </a:r>
            <a:r>
              <a:rPr lang="en-US" sz="1500" dirty="0">
                <a:solidFill>
                  <a:schemeClr val="tx1"/>
                </a:solidFill>
              </a:rPr>
              <a:t> is greedy: it always picks the minimum-cost edge.</a:t>
            </a:r>
            <a:endParaRPr lang="en-US" sz="1500" dirty="0"/>
          </a:p>
        </p:txBody>
      </p:sp>
      <p:sp>
        <p:nvSpPr>
          <p:cNvPr id="11" name="Greedy visual panel"/>
          <p:cNvSpPr/>
          <p:nvPr/>
        </p:nvSpPr>
        <p:spPr>
          <a:xfrm>
            <a:off x="5029200" y="1051560"/>
            <a:ext cx="365760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12080" y="11704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Each round: choose the cheapest edge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Round 1</a:t>
            </a:r>
            <a:endParaRPr lang="en-US" sz="1200" dirty="0"/>
          </a:p>
        </p:txBody>
      </p:sp>
      <p:sp>
        <p:nvSpPr>
          <p:cNvPr id="14" name="Round 1 edge 7"/>
          <p:cNvSpPr txBox="1"/>
          <p:nvPr/>
        </p:nvSpPr>
        <p:spPr>
          <a:xfrm>
            <a:off x="5989320" y="1691640"/>
            <a:ext cx="713232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15" name="Round 1 edge 3"/>
          <p:cNvSpPr txBox="1"/>
          <p:nvPr/>
        </p:nvSpPr>
        <p:spPr>
          <a:xfrm>
            <a:off x="6812280" y="1691640"/>
            <a:ext cx="713232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Round 1 edge 9"/>
          <p:cNvSpPr txBox="1"/>
          <p:nvPr/>
        </p:nvSpPr>
        <p:spPr>
          <a:xfrm>
            <a:off x="7635240" y="1691640"/>
            <a:ext cx="713232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9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Round 2</a:t>
            </a:r>
            <a:endParaRPr lang="en-US" sz="1200" dirty="0"/>
          </a:p>
        </p:txBody>
      </p:sp>
      <p:sp>
        <p:nvSpPr>
          <p:cNvPr id="18" name="Round 2 edge 6"/>
          <p:cNvSpPr txBox="1"/>
          <p:nvPr/>
        </p:nvSpPr>
        <p:spPr>
          <a:xfrm>
            <a:off x="5989320" y="2423160"/>
            <a:ext cx="713232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19" name="Round 2 edge 8"/>
          <p:cNvSpPr txBox="1"/>
          <p:nvPr/>
        </p:nvSpPr>
        <p:spPr>
          <a:xfrm>
            <a:off x="6812280" y="2423160"/>
            <a:ext cx="713232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8</a:t>
            </a:r>
            <a:endParaRPr lang="en-US" sz="1800" dirty="0"/>
          </a:p>
        </p:txBody>
      </p:sp>
      <p:sp>
        <p:nvSpPr>
          <p:cNvPr id="20" name="Round 2 edge 4"/>
          <p:cNvSpPr txBox="1"/>
          <p:nvPr/>
        </p:nvSpPr>
        <p:spPr>
          <a:xfrm>
            <a:off x="7635240" y="2423160"/>
            <a:ext cx="713232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246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Round 3</a:t>
            </a:r>
            <a:endParaRPr lang="en-US" sz="1200" dirty="0"/>
          </a:p>
        </p:txBody>
      </p:sp>
      <p:sp>
        <p:nvSpPr>
          <p:cNvPr id="22" name="Round 3 edge 5"/>
          <p:cNvSpPr txBox="1"/>
          <p:nvPr/>
        </p:nvSpPr>
        <p:spPr>
          <a:xfrm>
            <a:off x="5989320" y="3154680"/>
            <a:ext cx="713232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587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Round 3 edge 9"/>
          <p:cNvSpPr txBox="1"/>
          <p:nvPr/>
        </p:nvSpPr>
        <p:spPr>
          <a:xfrm>
            <a:off x="6812280" y="3154680"/>
            <a:ext cx="713232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9</a:t>
            </a:r>
            <a:endParaRPr lang="en-US" sz="1800" dirty="0"/>
          </a:p>
        </p:txBody>
      </p:sp>
      <p:sp>
        <p:nvSpPr>
          <p:cNvPr id="24" name="Round 3 edge 7"/>
          <p:cNvSpPr txBox="1"/>
          <p:nvPr/>
        </p:nvSpPr>
        <p:spPr>
          <a:xfrm>
            <a:off x="7635240" y="3154680"/>
            <a:ext cx="713232" cy="45720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587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25" name="Legend swatch"/>
          <p:cNvSpPr/>
          <p:nvPr/>
        </p:nvSpPr>
        <p:spPr>
          <a:xfrm>
            <a:off x="5212080" y="3685032"/>
            <a:ext cx="201168" cy="164592"/>
          </a:xfrm>
          <a:prstGeom prst="roundRect">
            <a:avLst>
              <a:gd name="adj" fmla="val 22222"/>
            </a:avLst>
          </a:prstGeom>
          <a:solidFill>
            <a:schemeClr val="accent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0" y="36393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minimum-cost edge (chosen)</a:t>
            </a:r>
            <a:endParaRPr lang="en-US" sz="1200" dirty="0"/>
          </a:p>
        </p:txBody>
      </p:sp>
      <p:sp>
        <p:nvSpPr>
          <p:cNvPr id="27" name="Key idea banner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0080" y="4114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Key idea: </a:t>
            </a:r>
            <a:r>
              <a:rPr lang="en-US" sz="1400" dirty="0">
                <a:solidFill>
                  <a:schemeClr val="tx1"/>
                </a:solidFill>
              </a:rPr>
              <a:t>for the MST problem, repeating the best local choice gives the global optimum.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Minimum Spanning Tree (MST)</a:t>
            </a:r>
            <a:endParaRPr lang="en-US" sz="3200" dirty="0"/>
          </a:p>
        </p:txBody>
      </p:sp>
      <p:sp>
        <p:nvSpPr>
          <p:cNvPr id="3" name="Spanning tree definition"/>
          <p:cNvSpPr/>
          <p:nvPr/>
        </p:nvSpPr>
        <p:spPr>
          <a:xfrm>
            <a:off x="457200" y="96012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Spanning Tree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subgraph that connects all V vertices using V − 1 edges and no cycles.</a:t>
            </a:r>
            <a:endParaRPr lang="en-US" sz="1400" dirty="0"/>
          </a:p>
        </p:txBody>
      </p:sp>
      <p:sp>
        <p:nvSpPr>
          <p:cNvPr id="5" name="MST definition"/>
          <p:cNvSpPr/>
          <p:nvPr/>
        </p:nvSpPr>
        <p:spPr>
          <a:xfrm>
            <a:off x="4663440" y="960120"/>
            <a:ext cx="40233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46320" y="9601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Minimum Spanning Tree (MST)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Connects all vertices with the minimum possible total weight and no cycles.</a:t>
            </a:r>
            <a:endParaRPr lang="en-US" sz="1400" dirty="0"/>
          </a:p>
        </p:txBody>
      </p:sp>
      <p:sp>
        <p:nvSpPr>
          <p:cNvPr id="7" name="Before edge AB"/>
          <p:cNvSpPr/>
          <p:nvPr/>
        </p:nvSpPr>
        <p:spPr>
          <a:xfrm flipV="1">
            <a:off x="935431" y="2296058"/>
            <a:ext cx="867400" cy="51572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Before edge AD"/>
          <p:cNvSpPr/>
          <p:nvPr/>
        </p:nvSpPr>
        <p:spPr>
          <a:xfrm>
            <a:off x="935431" y="2811780"/>
            <a:ext cx="867400" cy="515722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" name="Before edge BC"/>
          <p:cNvSpPr/>
          <p:nvPr/>
        </p:nvSpPr>
        <p:spPr>
          <a:xfrm>
            <a:off x="1802831" y="2296058"/>
            <a:ext cx="1594896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0" name="Before edge BD"/>
          <p:cNvSpPr/>
          <p:nvPr/>
        </p:nvSpPr>
        <p:spPr>
          <a:xfrm>
            <a:off x="1802831" y="2296058"/>
            <a:ext cx="0" cy="1031443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Before edge BE"/>
          <p:cNvSpPr/>
          <p:nvPr/>
        </p:nvSpPr>
        <p:spPr>
          <a:xfrm>
            <a:off x="1802831" y="2296058"/>
            <a:ext cx="1007303" cy="61886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2" name="Before edge CE"/>
          <p:cNvSpPr/>
          <p:nvPr/>
        </p:nvSpPr>
        <p:spPr>
          <a:xfrm flipV="1">
            <a:off x="2810134" y="2296058"/>
            <a:ext cx="587593" cy="61886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Before edge DE"/>
          <p:cNvSpPr/>
          <p:nvPr/>
        </p:nvSpPr>
        <p:spPr>
          <a:xfrm flipV="1">
            <a:off x="1802831" y="2914924"/>
            <a:ext cx="1007303" cy="412577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4" name="Before weight AB"/>
          <p:cNvSpPr txBox="1"/>
          <p:nvPr/>
        </p:nvSpPr>
        <p:spPr>
          <a:xfrm>
            <a:off x="1241115" y="2462479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Before weight AD"/>
          <p:cNvSpPr txBox="1"/>
          <p:nvPr/>
        </p:nvSpPr>
        <p:spPr>
          <a:xfrm>
            <a:off x="1241115" y="2978201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6</a:t>
            </a:r>
            <a:endParaRPr lang="en-US" sz="1000" dirty="0"/>
          </a:p>
        </p:txBody>
      </p:sp>
      <p:sp>
        <p:nvSpPr>
          <p:cNvPr id="16" name="Before weight BC"/>
          <p:cNvSpPr txBox="1"/>
          <p:nvPr/>
        </p:nvSpPr>
        <p:spPr>
          <a:xfrm>
            <a:off x="2472263" y="2204618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Before weight BD"/>
          <p:cNvSpPr txBox="1"/>
          <p:nvPr/>
        </p:nvSpPr>
        <p:spPr>
          <a:xfrm>
            <a:off x="1674815" y="2720340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8</a:t>
            </a:r>
            <a:endParaRPr lang="en-US" sz="1000" dirty="0"/>
          </a:p>
        </p:txBody>
      </p:sp>
      <p:sp>
        <p:nvSpPr>
          <p:cNvPr id="18" name="Before weight BE"/>
          <p:cNvSpPr txBox="1"/>
          <p:nvPr/>
        </p:nvSpPr>
        <p:spPr>
          <a:xfrm>
            <a:off x="2178467" y="2514051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Before weight CE"/>
          <p:cNvSpPr txBox="1"/>
          <p:nvPr/>
        </p:nvSpPr>
        <p:spPr>
          <a:xfrm>
            <a:off x="2975915" y="2514051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7</a:t>
            </a:r>
            <a:endParaRPr lang="en-US" sz="1000" dirty="0"/>
          </a:p>
        </p:txBody>
      </p:sp>
      <p:sp>
        <p:nvSpPr>
          <p:cNvPr id="20" name="Before weight DE"/>
          <p:cNvSpPr txBox="1"/>
          <p:nvPr/>
        </p:nvSpPr>
        <p:spPr>
          <a:xfrm>
            <a:off x="2178467" y="3029773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9</a:t>
            </a:r>
            <a:endParaRPr lang="en-US" sz="1000" dirty="0"/>
          </a:p>
        </p:txBody>
      </p:sp>
      <p:sp>
        <p:nvSpPr>
          <p:cNvPr id="21" name="Before vertex A"/>
          <p:cNvSpPr txBox="1"/>
          <p:nvPr/>
        </p:nvSpPr>
        <p:spPr>
          <a:xfrm>
            <a:off x="779983" y="2656332"/>
            <a:ext cx="310896" cy="31089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</a:t>
            </a:r>
            <a:endParaRPr lang="en-US" sz="1200" dirty="0"/>
          </a:p>
        </p:txBody>
      </p:sp>
      <p:sp>
        <p:nvSpPr>
          <p:cNvPr id="22" name="Before vertex B"/>
          <p:cNvSpPr txBox="1"/>
          <p:nvPr/>
        </p:nvSpPr>
        <p:spPr>
          <a:xfrm>
            <a:off x="1647383" y="2140610"/>
            <a:ext cx="310896" cy="31089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  <a:endParaRPr lang="en-US" sz="1200" dirty="0"/>
          </a:p>
        </p:txBody>
      </p:sp>
      <p:sp>
        <p:nvSpPr>
          <p:cNvPr id="23" name="Before vertex C"/>
          <p:cNvSpPr txBox="1"/>
          <p:nvPr/>
        </p:nvSpPr>
        <p:spPr>
          <a:xfrm>
            <a:off x="3242280" y="2140610"/>
            <a:ext cx="310896" cy="31089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  <a:endParaRPr lang="en-US" sz="1200" dirty="0"/>
          </a:p>
        </p:txBody>
      </p:sp>
      <p:sp>
        <p:nvSpPr>
          <p:cNvPr id="24" name="Before vertex D"/>
          <p:cNvSpPr txBox="1"/>
          <p:nvPr/>
        </p:nvSpPr>
        <p:spPr>
          <a:xfrm>
            <a:off x="1647383" y="3172054"/>
            <a:ext cx="310896" cy="31089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</a:t>
            </a:r>
            <a:endParaRPr lang="en-US" sz="1200" dirty="0"/>
          </a:p>
        </p:txBody>
      </p:sp>
      <p:sp>
        <p:nvSpPr>
          <p:cNvPr id="25" name="Before vertex E"/>
          <p:cNvSpPr txBox="1"/>
          <p:nvPr/>
        </p:nvSpPr>
        <p:spPr>
          <a:xfrm>
            <a:off x="2654686" y="2759476"/>
            <a:ext cx="310896" cy="31089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  <a:endParaRPr lang="en-US" sz="1200" dirty="0"/>
          </a:p>
        </p:txBody>
      </p:sp>
      <p:sp>
        <p:nvSpPr>
          <p:cNvPr id="26" name="After edge BD"/>
          <p:cNvSpPr/>
          <p:nvPr/>
        </p:nvSpPr>
        <p:spPr>
          <a:xfrm>
            <a:off x="6557711" y="2296058"/>
            <a:ext cx="0" cy="1031443"/>
          </a:xfrm>
          <a:prstGeom prst="line">
            <a:avLst/>
          </a:prstGeom>
          <a:noFill/>
          <a:ln w="12700">
            <a:solidFill>
              <a:schemeClr val="accent5">
                <a:alpha val="55000"/>
              </a:schemeClr>
            </a:solidFill>
            <a:prstDash val="dash"/>
          </a:ln>
        </p:spPr>
      </p:sp>
      <p:sp>
        <p:nvSpPr>
          <p:cNvPr id="27" name="After edge CE"/>
          <p:cNvSpPr/>
          <p:nvPr/>
        </p:nvSpPr>
        <p:spPr>
          <a:xfrm flipV="1">
            <a:off x="7565014" y="2296058"/>
            <a:ext cx="587593" cy="618866"/>
          </a:xfrm>
          <a:prstGeom prst="line">
            <a:avLst/>
          </a:prstGeom>
          <a:noFill/>
          <a:ln w="12700">
            <a:solidFill>
              <a:schemeClr val="accent5">
                <a:alpha val="55000"/>
              </a:schemeClr>
            </a:solidFill>
            <a:prstDash val="dash"/>
          </a:ln>
        </p:spPr>
      </p:sp>
      <p:sp>
        <p:nvSpPr>
          <p:cNvPr id="28" name="After edge DE"/>
          <p:cNvSpPr/>
          <p:nvPr/>
        </p:nvSpPr>
        <p:spPr>
          <a:xfrm flipV="1">
            <a:off x="6557711" y="2914924"/>
            <a:ext cx="1007303" cy="412577"/>
          </a:xfrm>
          <a:prstGeom prst="line">
            <a:avLst/>
          </a:prstGeom>
          <a:noFill/>
          <a:ln w="12700">
            <a:solidFill>
              <a:schemeClr val="accent5">
                <a:alpha val="55000"/>
              </a:schemeClr>
            </a:solidFill>
            <a:prstDash val="dash"/>
          </a:ln>
        </p:spPr>
      </p:sp>
      <p:sp>
        <p:nvSpPr>
          <p:cNvPr id="29" name="After edge AB"/>
          <p:cNvSpPr/>
          <p:nvPr/>
        </p:nvSpPr>
        <p:spPr>
          <a:xfrm flipV="1">
            <a:off x="5690311" y="2296058"/>
            <a:ext cx="867400" cy="515722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30" name="After edge AD"/>
          <p:cNvSpPr/>
          <p:nvPr/>
        </p:nvSpPr>
        <p:spPr>
          <a:xfrm>
            <a:off x="5690311" y="2811780"/>
            <a:ext cx="867400" cy="515722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31" name="After edge BC"/>
          <p:cNvSpPr/>
          <p:nvPr/>
        </p:nvSpPr>
        <p:spPr>
          <a:xfrm>
            <a:off x="6557711" y="2296058"/>
            <a:ext cx="1594896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32" name="After edge BE"/>
          <p:cNvSpPr/>
          <p:nvPr/>
        </p:nvSpPr>
        <p:spPr>
          <a:xfrm>
            <a:off x="6557711" y="2296058"/>
            <a:ext cx="1007303" cy="618866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33" name="After weight BD"/>
          <p:cNvSpPr txBox="1"/>
          <p:nvPr/>
        </p:nvSpPr>
        <p:spPr>
          <a:xfrm>
            <a:off x="6429695" y="2720340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8</a:t>
            </a:r>
            <a:endParaRPr lang="en-US" sz="1000" dirty="0"/>
          </a:p>
        </p:txBody>
      </p:sp>
      <p:sp>
        <p:nvSpPr>
          <p:cNvPr id="34" name="After weight CE"/>
          <p:cNvSpPr txBox="1"/>
          <p:nvPr/>
        </p:nvSpPr>
        <p:spPr>
          <a:xfrm>
            <a:off x="7730795" y="2514051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7</a:t>
            </a:r>
            <a:endParaRPr lang="en-US" sz="1000" dirty="0"/>
          </a:p>
        </p:txBody>
      </p:sp>
      <p:sp>
        <p:nvSpPr>
          <p:cNvPr id="35" name="After weight DE"/>
          <p:cNvSpPr txBox="1"/>
          <p:nvPr/>
        </p:nvSpPr>
        <p:spPr>
          <a:xfrm>
            <a:off x="6933347" y="3029773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5"/>
                </a:solidFill>
              </a:rPr>
              <a:t>9</a:t>
            </a:r>
            <a:endParaRPr lang="en-US" sz="1000" dirty="0"/>
          </a:p>
        </p:txBody>
      </p:sp>
      <p:sp>
        <p:nvSpPr>
          <p:cNvPr id="36" name="After weight AB"/>
          <p:cNvSpPr txBox="1"/>
          <p:nvPr/>
        </p:nvSpPr>
        <p:spPr>
          <a:xfrm>
            <a:off x="5995995" y="2462479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37" name="After weight AD"/>
          <p:cNvSpPr txBox="1"/>
          <p:nvPr/>
        </p:nvSpPr>
        <p:spPr>
          <a:xfrm>
            <a:off x="5995995" y="2978201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38" name="After weight BC"/>
          <p:cNvSpPr txBox="1"/>
          <p:nvPr/>
        </p:nvSpPr>
        <p:spPr>
          <a:xfrm>
            <a:off x="7227143" y="2204618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39" name="After weight BE"/>
          <p:cNvSpPr txBox="1"/>
          <p:nvPr/>
        </p:nvSpPr>
        <p:spPr>
          <a:xfrm>
            <a:off x="6933347" y="2514051"/>
            <a:ext cx="256032" cy="18288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40" name="After vertex A"/>
          <p:cNvSpPr txBox="1"/>
          <p:nvPr/>
        </p:nvSpPr>
        <p:spPr>
          <a:xfrm>
            <a:off x="5534863" y="2656332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41" name="After vertex B"/>
          <p:cNvSpPr txBox="1"/>
          <p:nvPr/>
        </p:nvSpPr>
        <p:spPr>
          <a:xfrm>
            <a:off x="6402263" y="214061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42" name="After vertex C"/>
          <p:cNvSpPr txBox="1"/>
          <p:nvPr/>
        </p:nvSpPr>
        <p:spPr>
          <a:xfrm>
            <a:off x="7997160" y="2140610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43" name="After vertex D"/>
          <p:cNvSpPr txBox="1"/>
          <p:nvPr/>
        </p:nvSpPr>
        <p:spPr>
          <a:xfrm>
            <a:off x="6402263" y="3172054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44" name="After vertex E"/>
          <p:cNvSpPr txBox="1"/>
          <p:nvPr/>
        </p:nvSpPr>
        <p:spPr>
          <a:xfrm>
            <a:off x="7409566" y="2759476"/>
            <a:ext cx="310896" cy="310896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45" name="Before to after arrow"/>
          <p:cNvSpPr/>
          <p:nvPr/>
        </p:nvSpPr>
        <p:spPr>
          <a:xfrm>
            <a:off x="3931920" y="2816352"/>
            <a:ext cx="12801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640080" y="3639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Weighted graph: 5 vertices, 7 edges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394960" y="36393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5"/>
                </a:solidFill>
              </a:rPr>
              <a:t>MST: 4 edges, total weight = 16</a:t>
            </a:r>
            <a:endParaRPr lang="en-US" sz="1200" dirty="0"/>
          </a:p>
        </p:txBody>
      </p:sp>
      <p:sp>
        <p:nvSpPr>
          <p:cNvPr id="48" name="Property Connects all vertices"/>
          <p:cNvSpPr/>
          <p:nvPr/>
        </p:nvSpPr>
        <p:spPr>
          <a:xfrm>
            <a:off x="457200" y="4069080"/>
            <a:ext cx="1920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49" name="Connects all vertices circle"/>
          <p:cNvSpPr/>
          <p:nvPr/>
        </p:nvSpPr>
        <p:spPr>
          <a:xfrm>
            <a:off x="566928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0" name="Connects all vertices icon" descr="Connects all vertic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4283964"/>
            <a:ext cx="210312" cy="210312"/>
          </a:xfrm>
          <a:prstGeom prst="rect">
            <a:avLst/>
          </a:prstGeom>
        </p:spPr>
      </p:pic>
      <p:sp>
        <p:nvSpPr>
          <p:cNvPr id="51" name="Text 48"/>
          <p:cNvSpPr txBox="1"/>
          <p:nvPr/>
        </p:nvSpPr>
        <p:spPr>
          <a:xfrm>
            <a:off x="1115568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Connects all vertices</a:t>
            </a:r>
            <a:endParaRPr lang="en-US" sz="1400" dirty="0"/>
          </a:p>
        </p:txBody>
      </p:sp>
      <p:sp>
        <p:nvSpPr>
          <p:cNvPr id="52" name="Property Contains V − 1 edges"/>
          <p:cNvSpPr/>
          <p:nvPr/>
        </p:nvSpPr>
        <p:spPr>
          <a:xfrm>
            <a:off x="2560320" y="4069080"/>
            <a:ext cx="1920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53" name="Contains V − 1 edges circle"/>
          <p:cNvSpPr/>
          <p:nvPr/>
        </p:nvSpPr>
        <p:spPr>
          <a:xfrm>
            <a:off x="2670048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4" name="Contains V − 1 edges icon" descr="Contains V − 1 edg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492" y="4283964"/>
            <a:ext cx="210312" cy="210312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3218688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Contains V − 1 edges</a:t>
            </a:r>
            <a:endParaRPr lang="en-US" sz="1400" dirty="0"/>
          </a:p>
        </p:txBody>
      </p:sp>
      <p:sp>
        <p:nvSpPr>
          <p:cNvPr id="56" name="Property Has no cycles"/>
          <p:cNvSpPr/>
          <p:nvPr/>
        </p:nvSpPr>
        <p:spPr>
          <a:xfrm>
            <a:off x="4663440" y="4069080"/>
            <a:ext cx="1920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57" name="Has no cycles circle"/>
          <p:cNvSpPr/>
          <p:nvPr/>
        </p:nvSpPr>
        <p:spPr>
          <a:xfrm>
            <a:off x="4773168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8" name="Has no cycles icon" descr="Has no cycl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612" y="4283964"/>
            <a:ext cx="210312" cy="210312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5321808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Has no cycles</a:t>
            </a:r>
            <a:endParaRPr lang="en-US" sz="1400" dirty="0"/>
          </a:p>
        </p:txBody>
      </p:sp>
      <p:sp>
        <p:nvSpPr>
          <p:cNvPr id="60" name="Property Minimum total weight"/>
          <p:cNvSpPr/>
          <p:nvPr/>
        </p:nvSpPr>
        <p:spPr>
          <a:xfrm>
            <a:off x="6766560" y="4069080"/>
            <a:ext cx="192024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</p:sp>
      <p:sp>
        <p:nvSpPr>
          <p:cNvPr id="61" name="Minimum total weight circle"/>
          <p:cNvSpPr/>
          <p:nvPr/>
        </p:nvSpPr>
        <p:spPr>
          <a:xfrm>
            <a:off x="6876288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2" name="Minimum total weight icon" descr="Minimum total weigh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9732" y="4283964"/>
            <a:ext cx="210312" cy="210312"/>
          </a:xfrm>
          <a:prstGeom prst="rect">
            <a:avLst/>
          </a:prstGeom>
        </p:spPr>
      </p:pic>
      <p:sp>
        <p:nvSpPr>
          <p:cNvPr id="63" name="Text 57"/>
          <p:cNvSpPr txBox="1"/>
          <p:nvPr/>
        </p:nvSpPr>
        <p:spPr>
          <a:xfrm>
            <a:off x="7424928" y="40690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Minimum total weight</a:t>
            </a:r>
            <a:endParaRPr lang="en-US" sz="1400" dirty="0"/>
          </a:p>
        </p:txBody>
      </p:sp>
      <p:sp>
        <p:nvSpPr>
          <p:cNvPr id="6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Prim’s Algorithm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accent1"/>
                </a:solidFill>
              </a:rPr>
              <a:t>Prim’s Algorithm</a:t>
            </a:r>
            <a:r>
              <a:rPr lang="en-US" sz="1600" dirty="0">
                <a:solidFill>
                  <a:schemeClr val="tx1"/>
                </a:solidFill>
              </a:rPr>
              <a:t> builds an MST by growing one tree from a start vertex.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At each step it adds the </a:t>
            </a:r>
            <a:r>
              <a:rPr lang="en-US" sz="1600" b="1" dirty="0">
                <a:solidFill>
                  <a:schemeClr val="accent1"/>
                </a:solidFill>
              </a:rPr>
              <a:t>minimum-weight edge</a:t>
            </a:r>
            <a:r>
              <a:rPr lang="en-US" sz="1600" dirty="0">
                <a:solidFill>
                  <a:schemeClr val="tx1"/>
                </a:solidFill>
              </a:rPr>
              <a:t> joining the tree to an </a:t>
            </a:r>
            <a:r>
              <a:rPr lang="en-US" sz="1600" b="1" dirty="0">
                <a:solidFill>
                  <a:schemeClr val="accent1"/>
                </a:solidFill>
              </a:rPr>
              <a:t>unvisited vertex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is a </a:t>
            </a:r>
            <a:r>
              <a:rPr lang="en-US" sz="1600" b="1" dirty="0">
                <a:solidFill>
                  <a:schemeClr val="accent1"/>
                </a:solidFill>
              </a:rPr>
              <a:t>greedy algorithm</a:t>
            </a:r>
            <a:r>
              <a:rPr lang="en-US" sz="1600" dirty="0">
                <a:solidFill>
                  <a:schemeClr val="tx1"/>
                </a:solidFill>
              </a:rPr>
              <a:t>: the cheapest valid edge is always chosen.</a:t>
            </a:r>
            <a:endParaRPr lang="en-US" sz="1600" dirty="0"/>
          </a:p>
        </p:txBody>
      </p:sp>
      <p:sp>
        <p:nvSpPr>
          <p:cNvPr id="4" name="Mini graph panel"/>
          <p:cNvSpPr/>
          <p:nvPr/>
        </p:nvSpPr>
        <p:spPr>
          <a:xfrm>
            <a:off x="5669280" y="960120"/>
            <a:ext cx="301752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Mini edge CE"/>
          <p:cNvSpPr/>
          <p:nvPr/>
        </p:nvSpPr>
        <p:spPr>
          <a:xfrm flipV="1">
            <a:off x="7717170" y="1319479"/>
            <a:ext cx="514624" cy="583753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" name="Mini edge DE"/>
          <p:cNvSpPr/>
          <p:nvPr/>
        </p:nvSpPr>
        <p:spPr>
          <a:xfrm flipV="1">
            <a:off x="6834957" y="1903232"/>
            <a:ext cx="882213" cy="389169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Mini edge AD"/>
          <p:cNvSpPr/>
          <p:nvPr/>
        </p:nvSpPr>
        <p:spPr>
          <a:xfrm>
            <a:off x="6075274" y="1805940"/>
            <a:ext cx="759684" cy="486461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8" name="Mini edge BC"/>
          <p:cNvSpPr/>
          <p:nvPr/>
        </p:nvSpPr>
        <p:spPr>
          <a:xfrm>
            <a:off x="6834957" y="1319479"/>
            <a:ext cx="1396837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9" name="Mini edge BD"/>
          <p:cNvSpPr/>
          <p:nvPr/>
        </p:nvSpPr>
        <p:spPr>
          <a:xfrm>
            <a:off x="6834957" y="1319479"/>
            <a:ext cx="0" cy="972922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10" name="Mini edge BE"/>
          <p:cNvSpPr/>
          <p:nvPr/>
        </p:nvSpPr>
        <p:spPr>
          <a:xfrm>
            <a:off x="6834957" y="1319479"/>
            <a:ext cx="882213" cy="583753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11" name="Mini edge AB"/>
          <p:cNvSpPr/>
          <p:nvPr/>
        </p:nvSpPr>
        <p:spPr>
          <a:xfrm flipV="1">
            <a:off x="6075274" y="1319479"/>
            <a:ext cx="759684" cy="486461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2" name="Mini weight CE"/>
          <p:cNvSpPr txBox="1"/>
          <p:nvPr/>
        </p:nvSpPr>
        <p:spPr>
          <a:xfrm>
            <a:off x="7851038" y="1524488"/>
            <a:ext cx="246888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7</a:t>
            </a:r>
            <a:endParaRPr lang="en-US" sz="1000" dirty="0"/>
          </a:p>
        </p:txBody>
      </p:sp>
      <p:sp>
        <p:nvSpPr>
          <p:cNvPr id="13" name="Mini weight DE"/>
          <p:cNvSpPr txBox="1"/>
          <p:nvPr/>
        </p:nvSpPr>
        <p:spPr>
          <a:xfrm>
            <a:off x="7152620" y="2010948"/>
            <a:ext cx="246888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Mini weight AD"/>
          <p:cNvSpPr txBox="1"/>
          <p:nvPr/>
        </p:nvSpPr>
        <p:spPr>
          <a:xfrm>
            <a:off x="6331671" y="1962302"/>
            <a:ext cx="246888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6</a:t>
            </a:r>
            <a:endParaRPr lang="en-US" sz="1000" dirty="0"/>
          </a:p>
        </p:txBody>
      </p:sp>
      <p:sp>
        <p:nvSpPr>
          <p:cNvPr id="15" name="Mini weight BC"/>
          <p:cNvSpPr txBox="1"/>
          <p:nvPr/>
        </p:nvSpPr>
        <p:spPr>
          <a:xfrm>
            <a:off x="7409932" y="1232611"/>
            <a:ext cx="246888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Mini weight BD"/>
          <p:cNvSpPr txBox="1"/>
          <p:nvPr/>
        </p:nvSpPr>
        <p:spPr>
          <a:xfrm>
            <a:off x="6711513" y="1719072"/>
            <a:ext cx="246888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8</a:t>
            </a:r>
            <a:endParaRPr lang="en-US" sz="1000" dirty="0"/>
          </a:p>
        </p:txBody>
      </p:sp>
      <p:sp>
        <p:nvSpPr>
          <p:cNvPr id="17" name="Mini weight BE"/>
          <p:cNvSpPr txBox="1"/>
          <p:nvPr/>
        </p:nvSpPr>
        <p:spPr>
          <a:xfrm>
            <a:off x="7152620" y="1524488"/>
            <a:ext cx="246888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5</a:t>
            </a:r>
            <a:endParaRPr lang="en-US" sz="1000" dirty="0"/>
          </a:p>
        </p:txBody>
      </p:sp>
      <p:sp>
        <p:nvSpPr>
          <p:cNvPr id="18" name="Mini weight AB"/>
          <p:cNvSpPr txBox="1"/>
          <p:nvPr/>
        </p:nvSpPr>
        <p:spPr>
          <a:xfrm>
            <a:off x="6331671" y="1475842"/>
            <a:ext cx="246888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Mini vertex A"/>
          <p:cNvSpPr txBox="1"/>
          <p:nvPr/>
        </p:nvSpPr>
        <p:spPr>
          <a:xfrm>
            <a:off x="5928970" y="1659636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20" name="Mini vertex B"/>
          <p:cNvSpPr txBox="1"/>
          <p:nvPr/>
        </p:nvSpPr>
        <p:spPr>
          <a:xfrm>
            <a:off x="6688653" y="1173175"/>
            <a:ext cx="292608" cy="29260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21" name="Mini vertex C"/>
          <p:cNvSpPr txBox="1"/>
          <p:nvPr/>
        </p:nvSpPr>
        <p:spPr>
          <a:xfrm>
            <a:off x="8085491" y="1173175"/>
            <a:ext cx="292608" cy="29260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  <a:endParaRPr lang="en-US" sz="1200" dirty="0"/>
          </a:p>
        </p:txBody>
      </p:sp>
      <p:sp>
        <p:nvSpPr>
          <p:cNvPr id="22" name="Mini vertex D"/>
          <p:cNvSpPr txBox="1"/>
          <p:nvPr/>
        </p:nvSpPr>
        <p:spPr>
          <a:xfrm>
            <a:off x="6688653" y="2146097"/>
            <a:ext cx="292608" cy="29260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</a:t>
            </a:r>
            <a:endParaRPr lang="en-US" sz="1200" dirty="0"/>
          </a:p>
        </p:txBody>
      </p:sp>
      <p:sp>
        <p:nvSpPr>
          <p:cNvPr id="23" name="Mini vertex E"/>
          <p:cNvSpPr txBox="1"/>
          <p:nvPr/>
        </p:nvSpPr>
        <p:spPr>
          <a:xfrm>
            <a:off x="7570866" y="1756928"/>
            <a:ext cx="292608" cy="292608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  <a:endParaRPr lang="en-US" sz="1200" dirty="0"/>
          </a:p>
        </p:txBody>
      </p:sp>
      <p:sp>
        <p:nvSpPr>
          <p:cNvPr id="24" name="Legend tree line"/>
          <p:cNvSpPr/>
          <p:nvPr/>
        </p:nvSpPr>
        <p:spPr>
          <a:xfrm>
            <a:off x="5852160" y="2770632"/>
            <a:ext cx="27432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190488" y="2651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In tree</a:t>
            </a:r>
            <a:endParaRPr lang="en-US" sz="1200" dirty="0"/>
          </a:p>
        </p:txBody>
      </p:sp>
      <p:sp>
        <p:nvSpPr>
          <p:cNvPr id="26" name="Legend candidate line"/>
          <p:cNvSpPr/>
          <p:nvPr/>
        </p:nvSpPr>
        <p:spPr>
          <a:xfrm>
            <a:off x="6949440" y="2770632"/>
            <a:ext cx="274320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7287768" y="26517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Candidate edge</a:t>
            </a:r>
            <a:endParaRPr lang="en-US" sz="1200" dirty="0"/>
          </a:p>
        </p:txBody>
      </p:sp>
      <p:sp>
        <p:nvSpPr>
          <p:cNvPr id="28" name="Process step Start Vertex"/>
          <p:cNvSpPr txBox="1"/>
          <p:nvPr/>
        </p:nvSpPr>
        <p:spPr>
          <a:xfrm>
            <a:off x="457200" y="3246120"/>
            <a:ext cx="13716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Start Vertex</a:t>
            </a:r>
            <a:endParaRPr lang="en-US" sz="1400" dirty="0"/>
          </a:p>
        </p:txBody>
      </p:sp>
      <p:sp>
        <p:nvSpPr>
          <p:cNvPr id="29" name="Process arrow 1"/>
          <p:cNvSpPr/>
          <p:nvPr/>
        </p:nvSpPr>
        <p:spPr>
          <a:xfrm>
            <a:off x="1874520" y="3611880"/>
            <a:ext cx="2514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Process step Find Minimum Edge"/>
          <p:cNvSpPr txBox="1"/>
          <p:nvPr/>
        </p:nvSpPr>
        <p:spPr>
          <a:xfrm>
            <a:off x="2171700" y="3246120"/>
            <a:ext cx="13716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Find Minimum Edge</a:t>
            </a:r>
            <a:endParaRPr lang="en-US" sz="1400" dirty="0"/>
          </a:p>
        </p:txBody>
      </p:sp>
      <p:sp>
        <p:nvSpPr>
          <p:cNvPr id="31" name="Process arrow 2"/>
          <p:cNvSpPr/>
          <p:nvPr/>
        </p:nvSpPr>
        <p:spPr>
          <a:xfrm>
            <a:off x="3589020" y="3611880"/>
            <a:ext cx="2514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Process step Add Vertex"/>
          <p:cNvSpPr txBox="1"/>
          <p:nvPr/>
        </p:nvSpPr>
        <p:spPr>
          <a:xfrm>
            <a:off x="3886200" y="3246120"/>
            <a:ext cx="13716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Add Vertex</a:t>
            </a:r>
            <a:endParaRPr lang="en-US" sz="1400" dirty="0"/>
          </a:p>
        </p:txBody>
      </p:sp>
      <p:sp>
        <p:nvSpPr>
          <p:cNvPr id="33" name="Process arrow 3"/>
          <p:cNvSpPr/>
          <p:nvPr/>
        </p:nvSpPr>
        <p:spPr>
          <a:xfrm>
            <a:off x="5303520" y="3611880"/>
            <a:ext cx="2514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Process step Repeat"/>
          <p:cNvSpPr txBox="1"/>
          <p:nvPr/>
        </p:nvSpPr>
        <p:spPr>
          <a:xfrm>
            <a:off x="5600700" y="3246120"/>
            <a:ext cx="1371600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Repeat</a:t>
            </a:r>
            <a:endParaRPr lang="en-US" sz="1400" dirty="0"/>
          </a:p>
        </p:txBody>
      </p:sp>
      <p:sp>
        <p:nvSpPr>
          <p:cNvPr id="35" name="Process arrow 4"/>
          <p:cNvSpPr/>
          <p:nvPr/>
        </p:nvSpPr>
        <p:spPr>
          <a:xfrm>
            <a:off x="7018020" y="3611880"/>
            <a:ext cx="2514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6" name="Process step MST"/>
          <p:cNvSpPr txBox="1"/>
          <p:nvPr/>
        </p:nvSpPr>
        <p:spPr>
          <a:xfrm>
            <a:off x="7315200" y="3246120"/>
            <a:ext cx="137160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MST</a:t>
            </a:r>
            <a:endParaRPr lang="en-US" sz="1400" dirty="0"/>
          </a:p>
        </p:txBody>
      </p:sp>
      <p:sp>
        <p:nvSpPr>
          <p:cNvPr id="37" name="Loop down"/>
          <p:cNvSpPr/>
          <p:nvPr/>
        </p:nvSpPr>
        <p:spPr>
          <a:xfrm>
            <a:off x="6286500" y="3977640"/>
            <a:ext cx="0" cy="210312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8" name="Loop across"/>
          <p:cNvSpPr/>
          <p:nvPr/>
        </p:nvSpPr>
        <p:spPr>
          <a:xfrm flipH="1">
            <a:off x="2857500" y="4187952"/>
            <a:ext cx="342900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39" name="Loop up"/>
          <p:cNvSpPr/>
          <p:nvPr/>
        </p:nvSpPr>
        <p:spPr>
          <a:xfrm flipV="1">
            <a:off x="2857500" y="3995928"/>
            <a:ext cx="0" cy="192024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2857500" y="42519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5"/>
                </a:solidFill>
              </a:rPr>
              <a:t>until all vertices are visited</a:t>
            </a:r>
            <a:endParaRPr lang="en-US" sz="14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Working of Prim’s Algorithm</a:t>
            </a:r>
            <a:endParaRPr lang="en-US" sz="3200" dirty="0"/>
          </a:p>
        </p:txBody>
      </p:sp>
      <p:sp>
        <p:nvSpPr>
          <p:cNvPr id="3" name="Step 1"/>
          <p:cNvSpPr txBox="1"/>
          <p:nvPr/>
        </p:nvSpPr>
        <p:spPr>
          <a:xfrm>
            <a:off x="457200" y="11795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51560" y="10515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Select any </a:t>
            </a:r>
            <a:r>
              <a:rPr lang="en-US" sz="1500" b="1" dirty="0">
                <a:solidFill>
                  <a:schemeClr val="accent1"/>
                </a:solidFill>
              </a:rPr>
              <a:t>starting vertex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5" name="Step 2"/>
          <p:cNvSpPr txBox="1"/>
          <p:nvPr/>
        </p:nvSpPr>
        <p:spPr>
          <a:xfrm>
            <a:off x="457200" y="190195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77393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Mark it as </a:t>
            </a:r>
            <a:r>
              <a:rPr lang="en-US" sz="1500" b="1" dirty="0">
                <a:solidFill>
                  <a:schemeClr val="accent1"/>
                </a:solidFill>
              </a:rPr>
              <a:t>visited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7" name="Step 3"/>
          <p:cNvSpPr txBox="1"/>
          <p:nvPr/>
        </p:nvSpPr>
        <p:spPr>
          <a:xfrm>
            <a:off x="457200" y="26243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49631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Find the </a:t>
            </a:r>
            <a:r>
              <a:rPr lang="en-US" sz="1500" b="1" dirty="0">
                <a:solidFill>
                  <a:schemeClr val="accent1"/>
                </a:solidFill>
              </a:rPr>
              <a:t>minimum-weight edge</a:t>
            </a:r>
            <a:r>
              <a:rPr lang="en-US" sz="1500" dirty="0">
                <a:solidFill>
                  <a:schemeClr val="tx1"/>
                </a:solidFill>
              </a:rPr>
              <a:t> from a visited vertex to an unvisited vertex.</a:t>
            </a:r>
            <a:endParaRPr lang="en-US" sz="1500" dirty="0"/>
          </a:p>
        </p:txBody>
      </p:sp>
      <p:sp>
        <p:nvSpPr>
          <p:cNvPr id="9" name="Step 4"/>
          <p:cNvSpPr txBox="1"/>
          <p:nvPr/>
        </p:nvSpPr>
        <p:spPr>
          <a:xfrm>
            <a:off x="457200" y="33467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21868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Add that </a:t>
            </a:r>
            <a:r>
              <a:rPr lang="en-US" sz="1500" b="1" dirty="0">
                <a:solidFill>
                  <a:schemeClr val="accent1"/>
                </a:solidFill>
              </a:rPr>
              <a:t>edge</a:t>
            </a:r>
            <a:r>
              <a:rPr lang="en-US" sz="1500" dirty="0">
                <a:solidFill>
                  <a:schemeClr val="tx1"/>
                </a:solidFill>
              </a:rPr>
              <a:t> and the new </a:t>
            </a:r>
            <a:r>
              <a:rPr lang="en-US" sz="1500" b="1" dirty="0">
                <a:solidFill>
                  <a:schemeClr val="accent1"/>
                </a:solidFill>
              </a:rPr>
              <a:t>vertex</a:t>
            </a:r>
            <a:r>
              <a:rPr lang="en-US" sz="1500" dirty="0">
                <a:solidFill>
                  <a:schemeClr val="tx1"/>
                </a:solidFill>
              </a:rPr>
              <a:t> to the MST.</a:t>
            </a:r>
            <a:endParaRPr lang="en-US" sz="1500" dirty="0"/>
          </a:p>
        </p:txBody>
      </p:sp>
      <p:sp>
        <p:nvSpPr>
          <p:cNvPr id="11" name="Step 5"/>
          <p:cNvSpPr txBox="1"/>
          <p:nvPr/>
        </p:nvSpPr>
        <p:spPr>
          <a:xfrm>
            <a:off x="457200" y="40690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94106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Repeat</a:t>
            </a:r>
            <a:r>
              <a:rPr lang="en-US" sz="1500" dirty="0">
                <a:solidFill>
                  <a:schemeClr val="tx1"/>
                </a:solidFill>
              </a:rPr>
              <a:t> until all vertices are included.</a:t>
            </a:r>
            <a:endParaRPr lang="en-US" sz="1500" dirty="0"/>
          </a:p>
        </p:txBody>
      </p:sp>
      <p:sp>
        <p:nvSpPr>
          <p:cNvPr id="13" name="Graph panel"/>
          <p:cNvSpPr/>
          <p:nvPr/>
        </p:nvSpPr>
        <p:spPr>
          <a:xfrm>
            <a:off x="4937760" y="1005840"/>
            <a:ext cx="374904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11155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Edges selected, in order (start = A)</a:t>
            </a:r>
            <a:endParaRPr lang="en-US" sz="1400" dirty="0"/>
          </a:p>
        </p:txBody>
      </p:sp>
      <p:sp>
        <p:nvSpPr>
          <p:cNvPr id="15" name="Working edge BD"/>
          <p:cNvSpPr/>
          <p:nvPr/>
        </p:nvSpPr>
        <p:spPr>
          <a:xfrm>
            <a:off x="6405189" y="1973275"/>
            <a:ext cx="0" cy="144841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6" name="Working edge CE"/>
          <p:cNvSpPr/>
          <p:nvPr/>
        </p:nvSpPr>
        <p:spPr>
          <a:xfrm flipV="1">
            <a:off x="7451994" y="1973275"/>
            <a:ext cx="610636" cy="869046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7" name="Working edge DE"/>
          <p:cNvSpPr/>
          <p:nvPr/>
        </p:nvSpPr>
        <p:spPr>
          <a:xfrm flipV="1">
            <a:off x="6405189" y="2842321"/>
            <a:ext cx="1046805" cy="57936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8" name="Working edge AB"/>
          <p:cNvSpPr/>
          <p:nvPr/>
        </p:nvSpPr>
        <p:spPr>
          <a:xfrm flipV="1">
            <a:off x="5503774" y="1973275"/>
            <a:ext cx="901416" cy="724205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9" name="Working edge AD"/>
          <p:cNvSpPr/>
          <p:nvPr/>
        </p:nvSpPr>
        <p:spPr>
          <a:xfrm>
            <a:off x="5503774" y="2697480"/>
            <a:ext cx="901416" cy="724205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20" name="Working edge BC"/>
          <p:cNvSpPr/>
          <p:nvPr/>
        </p:nvSpPr>
        <p:spPr>
          <a:xfrm>
            <a:off x="6405189" y="1973275"/>
            <a:ext cx="1657441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21" name="Working edge BE"/>
          <p:cNvSpPr/>
          <p:nvPr/>
        </p:nvSpPr>
        <p:spPr>
          <a:xfrm>
            <a:off x="6405189" y="1973275"/>
            <a:ext cx="1046805" cy="869046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22" name="Working weight BD"/>
          <p:cNvSpPr txBox="1"/>
          <p:nvPr/>
        </p:nvSpPr>
        <p:spPr>
          <a:xfrm>
            <a:off x="6249741" y="2587752"/>
            <a:ext cx="310896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8</a:t>
            </a:r>
            <a:endParaRPr lang="en-US" sz="1100" dirty="0"/>
          </a:p>
        </p:txBody>
      </p:sp>
      <p:sp>
        <p:nvSpPr>
          <p:cNvPr id="23" name="Working weight CE"/>
          <p:cNvSpPr txBox="1"/>
          <p:nvPr/>
        </p:nvSpPr>
        <p:spPr>
          <a:xfrm>
            <a:off x="7601864" y="2298070"/>
            <a:ext cx="310896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7</a:t>
            </a:r>
            <a:endParaRPr lang="en-US" sz="1100" dirty="0"/>
          </a:p>
        </p:txBody>
      </p:sp>
      <p:sp>
        <p:nvSpPr>
          <p:cNvPr id="24" name="Working weight DE"/>
          <p:cNvSpPr txBox="1"/>
          <p:nvPr/>
        </p:nvSpPr>
        <p:spPr>
          <a:xfrm>
            <a:off x="6773144" y="3022275"/>
            <a:ext cx="310896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9</a:t>
            </a:r>
            <a:endParaRPr lang="en-US" sz="1100" dirty="0"/>
          </a:p>
        </p:txBody>
      </p:sp>
      <p:sp>
        <p:nvSpPr>
          <p:cNvPr id="25" name="Working weight AB"/>
          <p:cNvSpPr txBox="1"/>
          <p:nvPr/>
        </p:nvSpPr>
        <p:spPr>
          <a:xfrm>
            <a:off x="5799033" y="2225650"/>
            <a:ext cx="310896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Working weight AD"/>
          <p:cNvSpPr txBox="1"/>
          <p:nvPr/>
        </p:nvSpPr>
        <p:spPr>
          <a:xfrm>
            <a:off x="5799033" y="2949854"/>
            <a:ext cx="310896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Working weight BC"/>
          <p:cNvSpPr txBox="1"/>
          <p:nvPr/>
        </p:nvSpPr>
        <p:spPr>
          <a:xfrm>
            <a:off x="7078462" y="1863547"/>
            <a:ext cx="310896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Working weight BE"/>
          <p:cNvSpPr txBox="1"/>
          <p:nvPr/>
        </p:nvSpPr>
        <p:spPr>
          <a:xfrm>
            <a:off x="6773144" y="2298070"/>
            <a:ext cx="310896" cy="21945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Working vertex A"/>
          <p:cNvSpPr txBox="1"/>
          <p:nvPr/>
        </p:nvSpPr>
        <p:spPr>
          <a:xfrm>
            <a:off x="5266030" y="2459736"/>
            <a:ext cx="475488" cy="47548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30" name="Working vertex B"/>
          <p:cNvSpPr txBox="1"/>
          <p:nvPr/>
        </p:nvSpPr>
        <p:spPr>
          <a:xfrm>
            <a:off x="6167445" y="1735531"/>
            <a:ext cx="475488" cy="47548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31" name="Working vertex C"/>
          <p:cNvSpPr txBox="1"/>
          <p:nvPr/>
        </p:nvSpPr>
        <p:spPr>
          <a:xfrm>
            <a:off x="7824887" y="1735531"/>
            <a:ext cx="475488" cy="47548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32" name="Working vertex D"/>
          <p:cNvSpPr txBox="1"/>
          <p:nvPr/>
        </p:nvSpPr>
        <p:spPr>
          <a:xfrm>
            <a:off x="6167445" y="3183941"/>
            <a:ext cx="475488" cy="47548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33" name="Working vertex E"/>
          <p:cNvSpPr txBox="1"/>
          <p:nvPr/>
        </p:nvSpPr>
        <p:spPr>
          <a:xfrm>
            <a:off x="7214250" y="2604577"/>
            <a:ext cx="475488" cy="475488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34" name="Working order 1"/>
          <p:cNvSpPr txBox="1"/>
          <p:nvPr/>
        </p:nvSpPr>
        <p:spPr>
          <a:xfrm>
            <a:off x="5588721" y="2097634"/>
            <a:ext cx="256032" cy="256032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5" name="Working order 2"/>
          <p:cNvSpPr txBox="1"/>
          <p:nvPr/>
        </p:nvSpPr>
        <p:spPr>
          <a:xfrm>
            <a:off x="7105894" y="1589227"/>
            <a:ext cx="256032" cy="256032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Working order 3"/>
          <p:cNvSpPr txBox="1"/>
          <p:nvPr/>
        </p:nvSpPr>
        <p:spPr>
          <a:xfrm>
            <a:off x="7038320" y="2151766"/>
            <a:ext cx="256032" cy="256032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7" name="Working order 4"/>
          <p:cNvSpPr txBox="1"/>
          <p:nvPr/>
        </p:nvSpPr>
        <p:spPr>
          <a:xfrm>
            <a:off x="5588721" y="3041294"/>
            <a:ext cx="256032" cy="256032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8" name="Legend selected"/>
          <p:cNvSpPr/>
          <p:nvPr/>
        </p:nvSpPr>
        <p:spPr>
          <a:xfrm>
            <a:off x="5166360" y="4224528"/>
            <a:ext cx="320040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59552" y="411480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selected edge</a:t>
            </a:r>
            <a:endParaRPr lang="en-US" sz="1200" dirty="0"/>
          </a:p>
        </p:txBody>
      </p:sp>
      <p:sp>
        <p:nvSpPr>
          <p:cNvPr id="40" name="Legend unused"/>
          <p:cNvSpPr/>
          <p:nvPr/>
        </p:nvSpPr>
        <p:spPr>
          <a:xfrm>
            <a:off x="6812280" y="4224528"/>
            <a:ext cx="3200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205472" y="41148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not selected</a:t>
            </a:r>
            <a:endParaRPr lang="en-US" sz="12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Example: Step-by-Step</a:t>
            </a:r>
            <a:endParaRPr lang="en-US" sz="3200" dirty="0"/>
          </a:p>
        </p:txBody>
      </p:sp>
      <p:sp>
        <p:nvSpPr>
          <p:cNvPr id="3" name="Legend Selected"/>
          <p:cNvSpPr/>
          <p:nvPr/>
        </p:nvSpPr>
        <p:spPr>
          <a:xfrm>
            <a:off x="5669280" y="566928"/>
            <a:ext cx="274320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89320" y="4572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Selected</a:t>
            </a:r>
            <a:endParaRPr lang="en-US" sz="1200" dirty="0"/>
          </a:p>
        </p:txBody>
      </p:sp>
      <p:sp>
        <p:nvSpPr>
          <p:cNvPr id="5" name="Legend Candidate"/>
          <p:cNvSpPr/>
          <p:nvPr/>
        </p:nvSpPr>
        <p:spPr>
          <a:xfrm>
            <a:off x="6675120" y="566928"/>
            <a:ext cx="274320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995160" y="4572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Candidate</a:t>
            </a:r>
            <a:endParaRPr lang="en-US" sz="1200" dirty="0"/>
          </a:p>
        </p:txBody>
      </p:sp>
      <p:sp>
        <p:nvSpPr>
          <p:cNvPr id="7" name="Legend Other"/>
          <p:cNvSpPr/>
          <p:nvPr/>
        </p:nvSpPr>
        <p:spPr>
          <a:xfrm>
            <a:off x="7680960" y="566928"/>
            <a:ext cx="2743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01000" y="4572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Other</a:t>
            </a:r>
            <a:endParaRPr lang="en-US" sz="1200" dirty="0"/>
          </a:p>
        </p:txBody>
      </p:sp>
      <p:sp>
        <p:nvSpPr>
          <p:cNvPr id="9" name="Panel 1"/>
          <p:cNvSpPr/>
          <p:nvPr/>
        </p:nvSpPr>
        <p:spPr>
          <a:xfrm>
            <a:off x="457200" y="914400"/>
            <a:ext cx="262432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987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Start at vertex 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tree = {A}</a:t>
            </a:r>
            <a:endParaRPr lang="en-US" sz="1400" dirty="0"/>
          </a:p>
        </p:txBody>
      </p:sp>
      <p:sp>
        <p:nvSpPr>
          <p:cNvPr id="11" name="Panel 1 edge BC"/>
          <p:cNvSpPr/>
          <p:nvPr/>
        </p:nvSpPr>
        <p:spPr>
          <a:xfrm>
            <a:off x="1471087" y="1688897"/>
            <a:ext cx="1214415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2" name="Panel 1 edge BD"/>
          <p:cNvSpPr/>
          <p:nvPr/>
        </p:nvSpPr>
        <p:spPr>
          <a:xfrm>
            <a:off x="1471087" y="1688897"/>
            <a:ext cx="0" cy="70957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3" name="Panel 1 edge BE"/>
          <p:cNvSpPr/>
          <p:nvPr/>
        </p:nvSpPr>
        <p:spPr>
          <a:xfrm>
            <a:off x="1471087" y="1688897"/>
            <a:ext cx="766999" cy="42574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4" name="Panel 1 edge CE"/>
          <p:cNvSpPr/>
          <p:nvPr/>
        </p:nvSpPr>
        <p:spPr>
          <a:xfrm flipV="1">
            <a:off x="2238085" y="1688897"/>
            <a:ext cx="447416" cy="42574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5" name="Panel 1 edge DE"/>
          <p:cNvSpPr/>
          <p:nvPr/>
        </p:nvSpPr>
        <p:spPr>
          <a:xfrm flipV="1">
            <a:off x="1471087" y="2114641"/>
            <a:ext cx="766999" cy="28383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6" name="Panel 1 edge AB"/>
          <p:cNvSpPr/>
          <p:nvPr/>
        </p:nvSpPr>
        <p:spPr>
          <a:xfrm flipV="1">
            <a:off x="810616" y="1688897"/>
            <a:ext cx="660471" cy="354787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17" name="Panel 1 edge AD"/>
          <p:cNvSpPr/>
          <p:nvPr/>
        </p:nvSpPr>
        <p:spPr>
          <a:xfrm>
            <a:off x="810616" y="2043684"/>
            <a:ext cx="660471" cy="354787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18" name="Panel 1 weight BC"/>
          <p:cNvSpPr txBox="1"/>
          <p:nvPr/>
        </p:nvSpPr>
        <p:spPr>
          <a:xfrm>
            <a:off x="1963994" y="1602029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Panel 1 weight BD"/>
          <p:cNvSpPr txBox="1"/>
          <p:nvPr/>
        </p:nvSpPr>
        <p:spPr>
          <a:xfrm>
            <a:off x="1356787" y="1956816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8</a:t>
            </a:r>
            <a:endParaRPr lang="en-US" sz="1000" dirty="0"/>
          </a:p>
        </p:txBody>
      </p:sp>
      <p:sp>
        <p:nvSpPr>
          <p:cNvPr id="20" name="Panel 1 weight BE"/>
          <p:cNvSpPr txBox="1"/>
          <p:nvPr/>
        </p:nvSpPr>
        <p:spPr>
          <a:xfrm>
            <a:off x="1740286" y="1814901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5</a:t>
            </a:r>
            <a:endParaRPr lang="en-US" sz="1000" dirty="0"/>
          </a:p>
        </p:txBody>
      </p:sp>
      <p:sp>
        <p:nvSpPr>
          <p:cNvPr id="21" name="Panel 1 weight CE"/>
          <p:cNvSpPr txBox="1"/>
          <p:nvPr/>
        </p:nvSpPr>
        <p:spPr>
          <a:xfrm>
            <a:off x="2347493" y="1814901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7</a:t>
            </a:r>
            <a:endParaRPr lang="en-US" sz="1000" dirty="0"/>
          </a:p>
        </p:txBody>
      </p:sp>
      <p:sp>
        <p:nvSpPr>
          <p:cNvPr id="22" name="Panel 1 weight DE"/>
          <p:cNvSpPr txBox="1"/>
          <p:nvPr/>
        </p:nvSpPr>
        <p:spPr>
          <a:xfrm>
            <a:off x="1740286" y="2169688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9</a:t>
            </a:r>
            <a:endParaRPr lang="en-US" sz="1000" dirty="0"/>
          </a:p>
        </p:txBody>
      </p:sp>
      <p:sp>
        <p:nvSpPr>
          <p:cNvPr id="23" name="Panel 1 weight AB"/>
          <p:cNvSpPr txBox="1"/>
          <p:nvPr/>
        </p:nvSpPr>
        <p:spPr>
          <a:xfrm>
            <a:off x="1026551" y="1779422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Panel 1 weight AD"/>
          <p:cNvSpPr txBox="1"/>
          <p:nvPr/>
        </p:nvSpPr>
        <p:spPr>
          <a:xfrm>
            <a:off x="1026551" y="2134210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6</a:t>
            </a:r>
            <a:endParaRPr lang="en-US" sz="1000" dirty="0"/>
          </a:p>
        </p:txBody>
      </p:sp>
      <p:sp>
        <p:nvSpPr>
          <p:cNvPr id="25" name="Panel 1 vertex A"/>
          <p:cNvSpPr txBox="1"/>
          <p:nvPr/>
        </p:nvSpPr>
        <p:spPr>
          <a:xfrm>
            <a:off x="673456" y="1906524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26" name="Panel 1 vertex B"/>
          <p:cNvSpPr txBox="1"/>
          <p:nvPr/>
        </p:nvSpPr>
        <p:spPr>
          <a:xfrm>
            <a:off x="1333927" y="1551737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B</a:t>
            </a:r>
            <a:endParaRPr lang="en-US" sz="1200" dirty="0"/>
          </a:p>
        </p:txBody>
      </p:sp>
      <p:sp>
        <p:nvSpPr>
          <p:cNvPr id="27" name="Panel 1 vertex C"/>
          <p:cNvSpPr txBox="1"/>
          <p:nvPr/>
        </p:nvSpPr>
        <p:spPr>
          <a:xfrm>
            <a:off x="2548341" y="1551737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  <a:endParaRPr lang="en-US" sz="1200" dirty="0"/>
          </a:p>
        </p:txBody>
      </p:sp>
      <p:sp>
        <p:nvSpPr>
          <p:cNvPr id="28" name="Panel 1 vertex D"/>
          <p:cNvSpPr txBox="1"/>
          <p:nvPr/>
        </p:nvSpPr>
        <p:spPr>
          <a:xfrm>
            <a:off x="1333927" y="2261311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</a:t>
            </a:r>
            <a:endParaRPr lang="en-US" sz="1200" dirty="0"/>
          </a:p>
        </p:txBody>
      </p:sp>
      <p:sp>
        <p:nvSpPr>
          <p:cNvPr id="29" name="Panel 1 vertex E"/>
          <p:cNvSpPr txBox="1"/>
          <p:nvPr/>
        </p:nvSpPr>
        <p:spPr>
          <a:xfrm>
            <a:off x="2100925" y="1977481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  <a:endParaRPr lang="en-US" sz="1200" dirty="0"/>
          </a:p>
        </p:txBody>
      </p:sp>
      <p:sp>
        <p:nvSpPr>
          <p:cNvPr id="30" name="Panel 2"/>
          <p:cNvSpPr/>
          <p:nvPr/>
        </p:nvSpPr>
        <p:spPr>
          <a:xfrm>
            <a:off x="3259836" y="914400"/>
            <a:ext cx="262432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396996" y="987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Step 1: add A–B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min{2, 6} = 2</a:t>
            </a:r>
            <a:endParaRPr lang="en-US" sz="1400" dirty="0"/>
          </a:p>
        </p:txBody>
      </p:sp>
      <p:sp>
        <p:nvSpPr>
          <p:cNvPr id="32" name="Panel 2 edge BC"/>
          <p:cNvSpPr/>
          <p:nvPr/>
        </p:nvSpPr>
        <p:spPr>
          <a:xfrm>
            <a:off x="4273723" y="1688897"/>
            <a:ext cx="1214415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3" name="Panel 2 edge BD"/>
          <p:cNvSpPr/>
          <p:nvPr/>
        </p:nvSpPr>
        <p:spPr>
          <a:xfrm>
            <a:off x="4273723" y="1688897"/>
            <a:ext cx="0" cy="70957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4" name="Panel 2 edge BE"/>
          <p:cNvSpPr/>
          <p:nvPr/>
        </p:nvSpPr>
        <p:spPr>
          <a:xfrm>
            <a:off x="4273723" y="1688897"/>
            <a:ext cx="766999" cy="42574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5" name="Panel 2 edge CE"/>
          <p:cNvSpPr/>
          <p:nvPr/>
        </p:nvSpPr>
        <p:spPr>
          <a:xfrm flipV="1">
            <a:off x="5040721" y="1688897"/>
            <a:ext cx="447416" cy="42574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6" name="Panel 2 edge DE"/>
          <p:cNvSpPr/>
          <p:nvPr/>
        </p:nvSpPr>
        <p:spPr>
          <a:xfrm flipV="1">
            <a:off x="4273723" y="2114641"/>
            <a:ext cx="766999" cy="28383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37" name="Panel 2 edge AD"/>
          <p:cNvSpPr/>
          <p:nvPr/>
        </p:nvSpPr>
        <p:spPr>
          <a:xfrm>
            <a:off x="3613252" y="2043684"/>
            <a:ext cx="660471" cy="354787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38" name="Panel 2 edge AB"/>
          <p:cNvSpPr/>
          <p:nvPr/>
        </p:nvSpPr>
        <p:spPr>
          <a:xfrm flipV="1">
            <a:off x="3613252" y="1688897"/>
            <a:ext cx="660471" cy="354787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39" name="Panel 2 weight BC"/>
          <p:cNvSpPr txBox="1"/>
          <p:nvPr/>
        </p:nvSpPr>
        <p:spPr>
          <a:xfrm>
            <a:off x="4766630" y="1602029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3</a:t>
            </a:r>
            <a:endParaRPr lang="en-US" sz="1000" dirty="0"/>
          </a:p>
        </p:txBody>
      </p:sp>
      <p:sp>
        <p:nvSpPr>
          <p:cNvPr id="40" name="Panel 2 weight BD"/>
          <p:cNvSpPr txBox="1"/>
          <p:nvPr/>
        </p:nvSpPr>
        <p:spPr>
          <a:xfrm>
            <a:off x="4159423" y="1956816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8</a:t>
            </a:r>
            <a:endParaRPr lang="en-US" sz="1000" dirty="0"/>
          </a:p>
        </p:txBody>
      </p:sp>
      <p:sp>
        <p:nvSpPr>
          <p:cNvPr id="41" name="Panel 2 weight BE"/>
          <p:cNvSpPr txBox="1"/>
          <p:nvPr/>
        </p:nvSpPr>
        <p:spPr>
          <a:xfrm>
            <a:off x="4542922" y="1814901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5</a:t>
            </a:r>
            <a:endParaRPr lang="en-US" sz="1000" dirty="0"/>
          </a:p>
        </p:txBody>
      </p:sp>
      <p:sp>
        <p:nvSpPr>
          <p:cNvPr id="42" name="Panel 2 weight CE"/>
          <p:cNvSpPr txBox="1"/>
          <p:nvPr/>
        </p:nvSpPr>
        <p:spPr>
          <a:xfrm>
            <a:off x="5150129" y="1814901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7</a:t>
            </a:r>
            <a:endParaRPr lang="en-US" sz="1000" dirty="0"/>
          </a:p>
        </p:txBody>
      </p:sp>
      <p:sp>
        <p:nvSpPr>
          <p:cNvPr id="43" name="Panel 2 weight DE"/>
          <p:cNvSpPr txBox="1"/>
          <p:nvPr/>
        </p:nvSpPr>
        <p:spPr>
          <a:xfrm>
            <a:off x="4542922" y="2169688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9</a:t>
            </a:r>
            <a:endParaRPr lang="en-US" sz="1000" dirty="0"/>
          </a:p>
        </p:txBody>
      </p:sp>
      <p:sp>
        <p:nvSpPr>
          <p:cNvPr id="44" name="Panel 2 weight AD"/>
          <p:cNvSpPr txBox="1"/>
          <p:nvPr/>
        </p:nvSpPr>
        <p:spPr>
          <a:xfrm>
            <a:off x="3829187" y="2134210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6</a:t>
            </a:r>
            <a:endParaRPr lang="en-US" sz="1000" dirty="0"/>
          </a:p>
        </p:txBody>
      </p:sp>
      <p:sp>
        <p:nvSpPr>
          <p:cNvPr id="45" name="Panel 2 weight AB"/>
          <p:cNvSpPr txBox="1"/>
          <p:nvPr/>
        </p:nvSpPr>
        <p:spPr>
          <a:xfrm>
            <a:off x="3829187" y="1779422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46" name="Panel 2 vertex A"/>
          <p:cNvSpPr txBox="1"/>
          <p:nvPr/>
        </p:nvSpPr>
        <p:spPr>
          <a:xfrm>
            <a:off x="3476092" y="1906524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47" name="Panel 2 vertex B"/>
          <p:cNvSpPr txBox="1"/>
          <p:nvPr/>
        </p:nvSpPr>
        <p:spPr>
          <a:xfrm>
            <a:off x="4136563" y="1551737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48" name="Panel 2 vertex C"/>
          <p:cNvSpPr txBox="1"/>
          <p:nvPr/>
        </p:nvSpPr>
        <p:spPr>
          <a:xfrm>
            <a:off x="5350977" y="1551737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</a:t>
            </a:r>
            <a:endParaRPr lang="en-US" sz="1200" dirty="0"/>
          </a:p>
        </p:txBody>
      </p:sp>
      <p:sp>
        <p:nvSpPr>
          <p:cNvPr id="49" name="Panel 2 vertex D"/>
          <p:cNvSpPr txBox="1"/>
          <p:nvPr/>
        </p:nvSpPr>
        <p:spPr>
          <a:xfrm>
            <a:off x="4136563" y="2261311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</a:t>
            </a:r>
            <a:endParaRPr lang="en-US" sz="1200" dirty="0"/>
          </a:p>
        </p:txBody>
      </p:sp>
      <p:sp>
        <p:nvSpPr>
          <p:cNvPr id="50" name="Panel 2 vertex E"/>
          <p:cNvSpPr txBox="1"/>
          <p:nvPr/>
        </p:nvSpPr>
        <p:spPr>
          <a:xfrm>
            <a:off x="4903561" y="1977481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  <a:endParaRPr lang="en-US" sz="1200" dirty="0"/>
          </a:p>
        </p:txBody>
      </p:sp>
      <p:sp>
        <p:nvSpPr>
          <p:cNvPr id="51" name="Panel 3"/>
          <p:cNvSpPr/>
          <p:nvPr/>
        </p:nvSpPr>
        <p:spPr>
          <a:xfrm>
            <a:off x="6062472" y="914400"/>
            <a:ext cx="262432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199632" y="9875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Step 2: add B–C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min{6, 3, 8, 5} = 3</a:t>
            </a:r>
            <a:endParaRPr lang="en-US" sz="1400" dirty="0"/>
          </a:p>
        </p:txBody>
      </p:sp>
      <p:sp>
        <p:nvSpPr>
          <p:cNvPr id="53" name="Panel 3 edge CE"/>
          <p:cNvSpPr/>
          <p:nvPr/>
        </p:nvSpPr>
        <p:spPr>
          <a:xfrm flipV="1">
            <a:off x="7843357" y="1688897"/>
            <a:ext cx="447416" cy="42574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54" name="Panel 3 edge DE"/>
          <p:cNvSpPr/>
          <p:nvPr/>
        </p:nvSpPr>
        <p:spPr>
          <a:xfrm flipV="1">
            <a:off x="7076359" y="2114641"/>
            <a:ext cx="766999" cy="28383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55" name="Panel 3 edge AD"/>
          <p:cNvSpPr/>
          <p:nvPr/>
        </p:nvSpPr>
        <p:spPr>
          <a:xfrm>
            <a:off x="6415888" y="2043684"/>
            <a:ext cx="660471" cy="354787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56" name="Panel 3 edge BD"/>
          <p:cNvSpPr/>
          <p:nvPr/>
        </p:nvSpPr>
        <p:spPr>
          <a:xfrm>
            <a:off x="7076359" y="1688897"/>
            <a:ext cx="0" cy="709574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57" name="Panel 3 edge BE"/>
          <p:cNvSpPr/>
          <p:nvPr/>
        </p:nvSpPr>
        <p:spPr>
          <a:xfrm>
            <a:off x="7076359" y="1688897"/>
            <a:ext cx="766999" cy="425745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58" name="Panel 3 edge AB"/>
          <p:cNvSpPr/>
          <p:nvPr/>
        </p:nvSpPr>
        <p:spPr>
          <a:xfrm flipV="1">
            <a:off x="6415888" y="1688897"/>
            <a:ext cx="660471" cy="354787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59" name="Panel 3 edge BC"/>
          <p:cNvSpPr/>
          <p:nvPr/>
        </p:nvSpPr>
        <p:spPr>
          <a:xfrm>
            <a:off x="7076359" y="1688897"/>
            <a:ext cx="1214415" cy="0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60" name="Panel 3 weight CE"/>
          <p:cNvSpPr txBox="1"/>
          <p:nvPr/>
        </p:nvSpPr>
        <p:spPr>
          <a:xfrm>
            <a:off x="7952765" y="1814901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7</a:t>
            </a:r>
            <a:endParaRPr lang="en-US" sz="1000" dirty="0"/>
          </a:p>
        </p:txBody>
      </p:sp>
      <p:sp>
        <p:nvSpPr>
          <p:cNvPr id="61" name="Panel 3 weight DE"/>
          <p:cNvSpPr txBox="1"/>
          <p:nvPr/>
        </p:nvSpPr>
        <p:spPr>
          <a:xfrm>
            <a:off x="7345558" y="2169688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9</a:t>
            </a:r>
            <a:endParaRPr lang="en-US" sz="1000" dirty="0"/>
          </a:p>
        </p:txBody>
      </p:sp>
      <p:sp>
        <p:nvSpPr>
          <p:cNvPr id="62" name="Panel 3 weight AD"/>
          <p:cNvSpPr txBox="1"/>
          <p:nvPr/>
        </p:nvSpPr>
        <p:spPr>
          <a:xfrm>
            <a:off x="6631823" y="2134210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6</a:t>
            </a:r>
            <a:endParaRPr lang="en-US" sz="1000" dirty="0"/>
          </a:p>
        </p:txBody>
      </p:sp>
      <p:sp>
        <p:nvSpPr>
          <p:cNvPr id="63" name="Panel 3 weight BD"/>
          <p:cNvSpPr txBox="1"/>
          <p:nvPr/>
        </p:nvSpPr>
        <p:spPr>
          <a:xfrm>
            <a:off x="6962059" y="1956816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8</a:t>
            </a:r>
            <a:endParaRPr lang="en-US" sz="1000" dirty="0"/>
          </a:p>
        </p:txBody>
      </p:sp>
      <p:sp>
        <p:nvSpPr>
          <p:cNvPr id="64" name="Panel 3 weight BE"/>
          <p:cNvSpPr txBox="1"/>
          <p:nvPr/>
        </p:nvSpPr>
        <p:spPr>
          <a:xfrm>
            <a:off x="7345558" y="1814901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5</a:t>
            </a:r>
            <a:endParaRPr lang="en-US" sz="1000" dirty="0"/>
          </a:p>
        </p:txBody>
      </p:sp>
      <p:sp>
        <p:nvSpPr>
          <p:cNvPr id="65" name="Panel 3 weight AB"/>
          <p:cNvSpPr txBox="1"/>
          <p:nvPr/>
        </p:nvSpPr>
        <p:spPr>
          <a:xfrm>
            <a:off x="6631823" y="1779422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66" name="Panel 3 weight BC"/>
          <p:cNvSpPr txBox="1"/>
          <p:nvPr/>
        </p:nvSpPr>
        <p:spPr>
          <a:xfrm>
            <a:off x="7569266" y="1602029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67" name="Panel 3 vertex A"/>
          <p:cNvSpPr txBox="1"/>
          <p:nvPr/>
        </p:nvSpPr>
        <p:spPr>
          <a:xfrm>
            <a:off x="6278728" y="1906524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68" name="Panel 3 vertex B"/>
          <p:cNvSpPr txBox="1"/>
          <p:nvPr/>
        </p:nvSpPr>
        <p:spPr>
          <a:xfrm>
            <a:off x="6939199" y="1551737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69" name="Panel 3 vertex C"/>
          <p:cNvSpPr txBox="1"/>
          <p:nvPr/>
        </p:nvSpPr>
        <p:spPr>
          <a:xfrm>
            <a:off x="8153613" y="1551737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70" name="Panel 3 vertex D"/>
          <p:cNvSpPr txBox="1"/>
          <p:nvPr/>
        </p:nvSpPr>
        <p:spPr>
          <a:xfrm>
            <a:off x="6939199" y="2261311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</a:t>
            </a:r>
            <a:endParaRPr lang="en-US" sz="1200" dirty="0"/>
          </a:p>
        </p:txBody>
      </p:sp>
      <p:sp>
        <p:nvSpPr>
          <p:cNvPr id="71" name="Panel 3 vertex E"/>
          <p:cNvSpPr txBox="1"/>
          <p:nvPr/>
        </p:nvSpPr>
        <p:spPr>
          <a:xfrm>
            <a:off x="7706197" y="1977481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E</a:t>
            </a:r>
            <a:endParaRPr lang="en-US" sz="1200" dirty="0"/>
          </a:p>
        </p:txBody>
      </p:sp>
      <p:sp>
        <p:nvSpPr>
          <p:cNvPr id="72" name="Panel 4"/>
          <p:cNvSpPr/>
          <p:nvPr/>
        </p:nvSpPr>
        <p:spPr>
          <a:xfrm>
            <a:off x="457200" y="2834640"/>
            <a:ext cx="262432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594360" y="29077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Step 3: add B–E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min{6, 8, 5, 7} = 5</a:t>
            </a:r>
            <a:endParaRPr lang="en-US" sz="1400" dirty="0"/>
          </a:p>
        </p:txBody>
      </p:sp>
      <p:sp>
        <p:nvSpPr>
          <p:cNvPr id="74" name="Panel 4 edge DE"/>
          <p:cNvSpPr/>
          <p:nvPr/>
        </p:nvSpPr>
        <p:spPr>
          <a:xfrm flipV="1">
            <a:off x="1471087" y="4034881"/>
            <a:ext cx="766999" cy="28383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5" name="Panel 4 edge AD"/>
          <p:cNvSpPr/>
          <p:nvPr/>
        </p:nvSpPr>
        <p:spPr>
          <a:xfrm>
            <a:off x="810616" y="3963924"/>
            <a:ext cx="660471" cy="354787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76" name="Panel 4 edge BD"/>
          <p:cNvSpPr/>
          <p:nvPr/>
        </p:nvSpPr>
        <p:spPr>
          <a:xfrm>
            <a:off x="1471087" y="3609137"/>
            <a:ext cx="0" cy="709574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77" name="Panel 4 edge CE"/>
          <p:cNvSpPr/>
          <p:nvPr/>
        </p:nvSpPr>
        <p:spPr>
          <a:xfrm flipV="1">
            <a:off x="2238085" y="3609137"/>
            <a:ext cx="447416" cy="425745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78" name="Panel 4 edge AB"/>
          <p:cNvSpPr/>
          <p:nvPr/>
        </p:nvSpPr>
        <p:spPr>
          <a:xfrm flipV="1">
            <a:off x="810616" y="3609137"/>
            <a:ext cx="660471" cy="354787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79" name="Panel 4 edge BC"/>
          <p:cNvSpPr/>
          <p:nvPr/>
        </p:nvSpPr>
        <p:spPr>
          <a:xfrm>
            <a:off x="1471087" y="3609137"/>
            <a:ext cx="1214415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80" name="Panel 4 edge BE"/>
          <p:cNvSpPr/>
          <p:nvPr/>
        </p:nvSpPr>
        <p:spPr>
          <a:xfrm>
            <a:off x="1471087" y="3609137"/>
            <a:ext cx="766999" cy="425745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81" name="Panel 4 weight DE"/>
          <p:cNvSpPr txBox="1"/>
          <p:nvPr/>
        </p:nvSpPr>
        <p:spPr>
          <a:xfrm>
            <a:off x="1740286" y="4089928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9</a:t>
            </a:r>
            <a:endParaRPr lang="en-US" sz="1000" dirty="0"/>
          </a:p>
        </p:txBody>
      </p:sp>
      <p:sp>
        <p:nvSpPr>
          <p:cNvPr id="82" name="Panel 4 weight AD"/>
          <p:cNvSpPr txBox="1"/>
          <p:nvPr/>
        </p:nvSpPr>
        <p:spPr>
          <a:xfrm>
            <a:off x="1026551" y="4054450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6</a:t>
            </a:r>
            <a:endParaRPr lang="en-US" sz="1000" dirty="0"/>
          </a:p>
        </p:txBody>
      </p:sp>
      <p:sp>
        <p:nvSpPr>
          <p:cNvPr id="83" name="Panel 4 weight BD"/>
          <p:cNvSpPr txBox="1"/>
          <p:nvPr/>
        </p:nvSpPr>
        <p:spPr>
          <a:xfrm>
            <a:off x="1356787" y="3877056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8</a:t>
            </a:r>
            <a:endParaRPr lang="en-US" sz="1000" dirty="0"/>
          </a:p>
        </p:txBody>
      </p:sp>
      <p:sp>
        <p:nvSpPr>
          <p:cNvPr id="84" name="Panel 4 weight CE"/>
          <p:cNvSpPr txBox="1"/>
          <p:nvPr/>
        </p:nvSpPr>
        <p:spPr>
          <a:xfrm>
            <a:off x="2347493" y="3735141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7</a:t>
            </a:r>
            <a:endParaRPr lang="en-US" sz="1000" dirty="0"/>
          </a:p>
        </p:txBody>
      </p:sp>
      <p:sp>
        <p:nvSpPr>
          <p:cNvPr id="85" name="Panel 4 weight AB"/>
          <p:cNvSpPr txBox="1"/>
          <p:nvPr/>
        </p:nvSpPr>
        <p:spPr>
          <a:xfrm>
            <a:off x="1026551" y="3699662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86" name="Panel 4 weight BC"/>
          <p:cNvSpPr txBox="1"/>
          <p:nvPr/>
        </p:nvSpPr>
        <p:spPr>
          <a:xfrm>
            <a:off x="1963994" y="3522269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87" name="Panel 4 weight BE"/>
          <p:cNvSpPr txBox="1"/>
          <p:nvPr/>
        </p:nvSpPr>
        <p:spPr>
          <a:xfrm>
            <a:off x="1740286" y="3735141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88" name="Panel 4 vertex A"/>
          <p:cNvSpPr txBox="1"/>
          <p:nvPr/>
        </p:nvSpPr>
        <p:spPr>
          <a:xfrm>
            <a:off x="673456" y="3826764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89" name="Panel 4 vertex B"/>
          <p:cNvSpPr txBox="1"/>
          <p:nvPr/>
        </p:nvSpPr>
        <p:spPr>
          <a:xfrm>
            <a:off x="1333927" y="3471977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90" name="Panel 4 vertex C"/>
          <p:cNvSpPr txBox="1"/>
          <p:nvPr/>
        </p:nvSpPr>
        <p:spPr>
          <a:xfrm>
            <a:off x="2548341" y="3471977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91" name="Panel 4 vertex D"/>
          <p:cNvSpPr txBox="1"/>
          <p:nvPr/>
        </p:nvSpPr>
        <p:spPr>
          <a:xfrm>
            <a:off x="1333927" y="4181551"/>
            <a:ext cx="274320" cy="274320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</a:t>
            </a:r>
            <a:endParaRPr lang="en-US" sz="1200" dirty="0"/>
          </a:p>
        </p:txBody>
      </p:sp>
      <p:sp>
        <p:nvSpPr>
          <p:cNvPr id="92" name="Panel 4 vertex E"/>
          <p:cNvSpPr txBox="1"/>
          <p:nvPr/>
        </p:nvSpPr>
        <p:spPr>
          <a:xfrm>
            <a:off x="2100925" y="3897721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93" name="Panel 5"/>
          <p:cNvSpPr/>
          <p:nvPr/>
        </p:nvSpPr>
        <p:spPr>
          <a:xfrm>
            <a:off x="3259836" y="2834640"/>
            <a:ext cx="2624328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3396996" y="29077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Step 4: add A–D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min{6, 8, 9} = 6</a:t>
            </a:r>
            <a:endParaRPr lang="en-US" sz="1400" dirty="0"/>
          </a:p>
        </p:txBody>
      </p:sp>
      <p:sp>
        <p:nvSpPr>
          <p:cNvPr id="95" name="Panel 5 edge CE"/>
          <p:cNvSpPr/>
          <p:nvPr/>
        </p:nvSpPr>
        <p:spPr>
          <a:xfrm flipV="1">
            <a:off x="5040721" y="3609137"/>
            <a:ext cx="447416" cy="42574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96" name="Panel 5 edge BD"/>
          <p:cNvSpPr/>
          <p:nvPr/>
        </p:nvSpPr>
        <p:spPr>
          <a:xfrm>
            <a:off x="4273723" y="3609137"/>
            <a:ext cx="0" cy="709574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97" name="Panel 5 edge DE"/>
          <p:cNvSpPr/>
          <p:nvPr/>
        </p:nvSpPr>
        <p:spPr>
          <a:xfrm flipV="1">
            <a:off x="4273723" y="4034881"/>
            <a:ext cx="766999" cy="28383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dash"/>
          </a:ln>
        </p:spPr>
      </p:sp>
      <p:sp>
        <p:nvSpPr>
          <p:cNvPr id="98" name="Panel 5 edge AB"/>
          <p:cNvSpPr/>
          <p:nvPr/>
        </p:nvSpPr>
        <p:spPr>
          <a:xfrm flipV="1">
            <a:off x="3613252" y="3609137"/>
            <a:ext cx="660471" cy="354787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99" name="Panel 5 edge BC"/>
          <p:cNvSpPr/>
          <p:nvPr/>
        </p:nvSpPr>
        <p:spPr>
          <a:xfrm>
            <a:off x="4273723" y="3609137"/>
            <a:ext cx="1214415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00" name="Panel 5 edge BE"/>
          <p:cNvSpPr/>
          <p:nvPr/>
        </p:nvSpPr>
        <p:spPr>
          <a:xfrm>
            <a:off x="4273723" y="3609137"/>
            <a:ext cx="766999" cy="425745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01" name="Panel 5 edge AD"/>
          <p:cNvSpPr/>
          <p:nvPr/>
        </p:nvSpPr>
        <p:spPr>
          <a:xfrm>
            <a:off x="3613252" y="3963924"/>
            <a:ext cx="660471" cy="354787"/>
          </a:xfrm>
          <a:prstGeom prst="line">
            <a:avLst/>
          </a:prstGeom>
          <a:noFill/>
          <a:ln w="63500">
            <a:solidFill>
              <a:schemeClr val="accent3"/>
            </a:solidFill>
            <a:prstDash val="solid"/>
          </a:ln>
        </p:spPr>
      </p:sp>
      <p:sp>
        <p:nvSpPr>
          <p:cNvPr id="102" name="Panel 5 weight CE"/>
          <p:cNvSpPr txBox="1"/>
          <p:nvPr/>
        </p:nvSpPr>
        <p:spPr>
          <a:xfrm>
            <a:off x="5150129" y="3735141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7</a:t>
            </a:r>
            <a:endParaRPr lang="en-US" sz="1000" dirty="0"/>
          </a:p>
        </p:txBody>
      </p:sp>
      <p:sp>
        <p:nvSpPr>
          <p:cNvPr id="103" name="Panel 5 weight BD"/>
          <p:cNvSpPr txBox="1"/>
          <p:nvPr/>
        </p:nvSpPr>
        <p:spPr>
          <a:xfrm>
            <a:off x="4159423" y="3877056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8</a:t>
            </a:r>
            <a:endParaRPr lang="en-US" sz="1000" dirty="0"/>
          </a:p>
        </p:txBody>
      </p:sp>
      <p:sp>
        <p:nvSpPr>
          <p:cNvPr id="104" name="Panel 5 weight DE"/>
          <p:cNvSpPr txBox="1"/>
          <p:nvPr/>
        </p:nvSpPr>
        <p:spPr>
          <a:xfrm>
            <a:off x="4542922" y="4089928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1"/>
                </a:solidFill>
              </a:rPr>
              <a:t>9</a:t>
            </a:r>
            <a:endParaRPr lang="en-US" sz="1000" dirty="0"/>
          </a:p>
        </p:txBody>
      </p:sp>
      <p:sp>
        <p:nvSpPr>
          <p:cNvPr id="105" name="Panel 5 weight AB"/>
          <p:cNvSpPr txBox="1"/>
          <p:nvPr/>
        </p:nvSpPr>
        <p:spPr>
          <a:xfrm>
            <a:off x="3829187" y="3699662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06" name="Panel 5 weight BC"/>
          <p:cNvSpPr txBox="1"/>
          <p:nvPr/>
        </p:nvSpPr>
        <p:spPr>
          <a:xfrm>
            <a:off x="4766630" y="3522269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07" name="Panel 5 weight BE"/>
          <p:cNvSpPr txBox="1"/>
          <p:nvPr/>
        </p:nvSpPr>
        <p:spPr>
          <a:xfrm>
            <a:off x="4542922" y="3735141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108" name="Panel 5 weight AD"/>
          <p:cNvSpPr txBox="1"/>
          <p:nvPr/>
        </p:nvSpPr>
        <p:spPr>
          <a:xfrm>
            <a:off x="3829187" y="4054450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109" name="Panel 5 vertex A"/>
          <p:cNvSpPr txBox="1"/>
          <p:nvPr/>
        </p:nvSpPr>
        <p:spPr>
          <a:xfrm>
            <a:off x="3476092" y="3826764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110" name="Panel 5 vertex B"/>
          <p:cNvSpPr txBox="1"/>
          <p:nvPr/>
        </p:nvSpPr>
        <p:spPr>
          <a:xfrm>
            <a:off x="4136563" y="3471977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111" name="Panel 5 vertex C"/>
          <p:cNvSpPr txBox="1"/>
          <p:nvPr/>
        </p:nvSpPr>
        <p:spPr>
          <a:xfrm>
            <a:off x="5350977" y="3471977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112" name="Panel 5 vertex D"/>
          <p:cNvSpPr txBox="1"/>
          <p:nvPr/>
        </p:nvSpPr>
        <p:spPr>
          <a:xfrm>
            <a:off x="4136563" y="4181551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113" name="Panel 5 vertex E"/>
          <p:cNvSpPr txBox="1"/>
          <p:nvPr/>
        </p:nvSpPr>
        <p:spPr>
          <a:xfrm>
            <a:off x="4903561" y="3897721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114" name="Panel 6"/>
          <p:cNvSpPr/>
          <p:nvPr/>
        </p:nvSpPr>
        <p:spPr>
          <a:xfrm>
            <a:off x="6062472" y="2834640"/>
            <a:ext cx="2624328" cy="178308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6199632" y="290779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Final MST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 + 3 + 5 + 6 = 16</a:t>
            </a:r>
            <a:endParaRPr lang="en-US" sz="1400" dirty="0"/>
          </a:p>
        </p:txBody>
      </p:sp>
      <p:sp>
        <p:nvSpPr>
          <p:cNvPr id="116" name="Panel 6 edge BD"/>
          <p:cNvSpPr/>
          <p:nvPr/>
        </p:nvSpPr>
        <p:spPr>
          <a:xfrm>
            <a:off x="7076359" y="3609137"/>
            <a:ext cx="0" cy="70957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7" name="Panel 6 edge CE"/>
          <p:cNvSpPr/>
          <p:nvPr/>
        </p:nvSpPr>
        <p:spPr>
          <a:xfrm flipV="1">
            <a:off x="7843357" y="3609137"/>
            <a:ext cx="447416" cy="425745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8" name="Panel 6 edge DE"/>
          <p:cNvSpPr/>
          <p:nvPr/>
        </p:nvSpPr>
        <p:spPr>
          <a:xfrm flipV="1">
            <a:off x="7076359" y="4034881"/>
            <a:ext cx="766999" cy="28383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9" name="Panel 6 edge AB"/>
          <p:cNvSpPr/>
          <p:nvPr/>
        </p:nvSpPr>
        <p:spPr>
          <a:xfrm flipV="1">
            <a:off x="6415888" y="3609137"/>
            <a:ext cx="660471" cy="354787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20" name="Panel 6 edge AD"/>
          <p:cNvSpPr/>
          <p:nvPr/>
        </p:nvSpPr>
        <p:spPr>
          <a:xfrm>
            <a:off x="6415888" y="3963924"/>
            <a:ext cx="660471" cy="354787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21" name="Panel 6 edge BC"/>
          <p:cNvSpPr/>
          <p:nvPr/>
        </p:nvSpPr>
        <p:spPr>
          <a:xfrm>
            <a:off x="7076359" y="3609137"/>
            <a:ext cx="1214415" cy="0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22" name="Panel 6 edge BE"/>
          <p:cNvSpPr/>
          <p:nvPr/>
        </p:nvSpPr>
        <p:spPr>
          <a:xfrm>
            <a:off x="7076359" y="3609137"/>
            <a:ext cx="766999" cy="425745"/>
          </a:xfrm>
          <a:prstGeom prst="line">
            <a:avLst/>
          </a:prstGeom>
          <a:noFill/>
          <a:ln w="50800">
            <a:solidFill>
              <a:schemeClr val="accent3"/>
            </a:solidFill>
            <a:prstDash val="solid"/>
          </a:ln>
        </p:spPr>
      </p:sp>
      <p:sp>
        <p:nvSpPr>
          <p:cNvPr id="123" name="Panel 6 weight BD"/>
          <p:cNvSpPr txBox="1"/>
          <p:nvPr/>
        </p:nvSpPr>
        <p:spPr>
          <a:xfrm>
            <a:off x="6962059" y="3877056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8</a:t>
            </a:r>
            <a:endParaRPr lang="en-US" sz="1000" dirty="0"/>
          </a:p>
        </p:txBody>
      </p:sp>
      <p:sp>
        <p:nvSpPr>
          <p:cNvPr id="124" name="Panel 6 weight CE"/>
          <p:cNvSpPr txBox="1"/>
          <p:nvPr/>
        </p:nvSpPr>
        <p:spPr>
          <a:xfrm>
            <a:off x="7952765" y="3735141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7</a:t>
            </a:r>
            <a:endParaRPr lang="en-US" sz="1000" dirty="0"/>
          </a:p>
        </p:txBody>
      </p:sp>
      <p:sp>
        <p:nvSpPr>
          <p:cNvPr id="125" name="Panel 6 weight DE"/>
          <p:cNvSpPr txBox="1"/>
          <p:nvPr/>
        </p:nvSpPr>
        <p:spPr>
          <a:xfrm>
            <a:off x="7345558" y="4089928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9</a:t>
            </a:r>
            <a:endParaRPr lang="en-US" sz="1000" dirty="0"/>
          </a:p>
        </p:txBody>
      </p:sp>
      <p:sp>
        <p:nvSpPr>
          <p:cNvPr id="126" name="Panel 6 weight AB"/>
          <p:cNvSpPr txBox="1"/>
          <p:nvPr/>
        </p:nvSpPr>
        <p:spPr>
          <a:xfrm>
            <a:off x="6631823" y="3699662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27" name="Panel 6 weight AD"/>
          <p:cNvSpPr txBox="1"/>
          <p:nvPr/>
        </p:nvSpPr>
        <p:spPr>
          <a:xfrm>
            <a:off x="6631823" y="4054450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128" name="Panel 6 weight BC"/>
          <p:cNvSpPr txBox="1"/>
          <p:nvPr/>
        </p:nvSpPr>
        <p:spPr>
          <a:xfrm>
            <a:off x="7569266" y="3522269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29" name="Panel 6 weight BE"/>
          <p:cNvSpPr txBox="1"/>
          <p:nvPr/>
        </p:nvSpPr>
        <p:spPr>
          <a:xfrm>
            <a:off x="7345558" y="3735141"/>
            <a:ext cx="228600" cy="17373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130" name="Panel 6 vertex A"/>
          <p:cNvSpPr txBox="1"/>
          <p:nvPr/>
        </p:nvSpPr>
        <p:spPr>
          <a:xfrm>
            <a:off x="6278728" y="3826764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</a:t>
            </a:r>
            <a:endParaRPr lang="en-US" sz="1200" dirty="0"/>
          </a:p>
        </p:txBody>
      </p:sp>
      <p:sp>
        <p:nvSpPr>
          <p:cNvPr id="131" name="Panel 6 vertex B"/>
          <p:cNvSpPr txBox="1"/>
          <p:nvPr/>
        </p:nvSpPr>
        <p:spPr>
          <a:xfrm>
            <a:off x="6939199" y="3471977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</a:t>
            </a:r>
            <a:endParaRPr lang="en-US" sz="1200" dirty="0"/>
          </a:p>
        </p:txBody>
      </p:sp>
      <p:sp>
        <p:nvSpPr>
          <p:cNvPr id="132" name="Panel 6 vertex C"/>
          <p:cNvSpPr txBox="1"/>
          <p:nvPr/>
        </p:nvSpPr>
        <p:spPr>
          <a:xfrm>
            <a:off x="8153613" y="3471977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</a:t>
            </a:r>
            <a:endParaRPr lang="en-US" sz="1200" dirty="0"/>
          </a:p>
        </p:txBody>
      </p:sp>
      <p:sp>
        <p:nvSpPr>
          <p:cNvPr id="133" name="Panel 6 vertex D"/>
          <p:cNvSpPr txBox="1"/>
          <p:nvPr/>
        </p:nvSpPr>
        <p:spPr>
          <a:xfrm>
            <a:off x="6939199" y="4181551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</a:t>
            </a:r>
            <a:endParaRPr lang="en-US" sz="1200" dirty="0"/>
          </a:p>
        </p:txBody>
      </p:sp>
      <p:sp>
        <p:nvSpPr>
          <p:cNvPr id="134" name="Panel 6 vertex E"/>
          <p:cNvSpPr txBox="1"/>
          <p:nvPr/>
        </p:nvSpPr>
        <p:spPr>
          <a:xfrm>
            <a:off x="7706197" y="3897721"/>
            <a:ext cx="274320" cy="274320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</a:t>
            </a:r>
            <a:endParaRPr lang="en-US" sz="1200" dirty="0"/>
          </a:p>
        </p:txBody>
      </p:sp>
      <p:sp>
        <p:nvSpPr>
          <p:cNvPr id="1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Prim’s Algorithm: Pseudocode</a:t>
            </a:r>
            <a:endParaRPr lang="en-US" sz="3200" dirty="0"/>
          </a:p>
        </p:txBody>
      </p:sp>
      <p:sp>
        <p:nvSpPr>
          <p:cNvPr id="3" name="Pseudocode block"/>
          <p:cNvSpPr/>
          <p:nvPr/>
        </p:nvSpPr>
        <p:spPr>
          <a:xfrm>
            <a:off x="457200" y="960120"/>
            <a:ext cx="5029200" cy="3291840"/>
          </a:xfrm>
          <a:prstGeom prst="roundRect">
            <a:avLst>
              <a:gd name="adj" fmla="val 2778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097280"/>
            <a:ext cx="46177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PRIM(G, start)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each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vertex v </a:t>
            </a: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G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key[v]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∞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parent[v]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NIL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visited[v]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key[start]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V </a:t>
            </a: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u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unvisited vertex </a:t>
            </a: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min key[u]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visited[u]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</a:t>
            </a: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 each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neighbor v </a:t>
            </a: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u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</a:t>
            </a: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v unvisited </a:t>
            </a: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w(u,v) &lt; key[v]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key[v]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w(u,v)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parent[v] </a:t>
            </a: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u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</a:t>
            </a: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edges (parent[v], v)</a:t>
            </a:r>
            <a:endParaRPr lang="en-US" sz="1400" dirty="0"/>
          </a:p>
        </p:txBody>
      </p:sp>
      <p:sp>
        <p:nvSpPr>
          <p:cNvPr id="5" name="Variable key[v]"/>
          <p:cNvSpPr/>
          <p:nvPr/>
        </p:nvSpPr>
        <p:spPr>
          <a:xfrm>
            <a:off x="5715000" y="960120"/>
            <a:ext cx="29718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870448" y="960120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key[v]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lowest edge weight linking v to the tree</a:t>
            </a:r>
            <a:endParaRPr lang="en-US" sz="1400" dirty="0"/>
          </a:p>
        </p:txBody>
      </p:sp>
      <p:sp>
        <p:nvSpPr>
          <p:cNvPr id="7" name="Variable parent[v]"/>
          <p:cNvSpPr/>
          <p:nvPr/>
        </p:nvSpPr>
        <p:spPr>
          <a:xfrm>
            <a:off x="5715000" y="1801368"/>
            <a:ext cx="29718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870448" y="1801368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parent[v]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tree vertex joined to v by that edge</a:t>
            </a:r>
            <a:endParaRPr lang="en-US" sz="1400" dirty="0"/>
          </a:p>
        </p:txBody>
      </p:sp>
      <p:sp>
        <p:nvSpPr>
          <p:cNvPr id="9" name="Variable visited[v]"/>
          <p:cNvSpPr/>
          <p:nvPr/>
        </p:nvSpPr>
        <p:spPr>
          <a:xfrm>
            <a:off x="5715000" y="2642616"/>
            <a:ext cx="29718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70448" y="2642616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visited[v]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true once v is in the MST</a:t>
            </a:r>
            <a:endParaRPr lang="en-US" sz="1400" dirty="0"/>
          </a:p>
        </p:txBody>
      </p:sp>
      <p:sp>
        <p:nvSpPr>
          <p:cNvPr id="11" name="Variable w(u, v)"/>
          <p:cNvSpPr/>
          <p:nvPr/>
        </p:nvSpPr>
        <p:spPr>
          <a:xfrm>
            <a:off x="5715000" y="3483864"/>
            <a:ext cx="29718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870448" y="3483864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w(u, v)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weight of the edge between u and v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370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Each pass of the loop adds one vertex until all V vertices are in the tree.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Complexity and Applications</a:t>
            </a:r>
            <a:endParaRPr lang="en-US" sz="3200" dirty="0"/>
          </a:p>
        </p:txBody>
      </p:sp>
      <p:sp>
        <p:nvSpPr>
          <p:cNvPr id="3" name="Time complexity Adjacency Matrix"/>
          <p:cNvSpPr/>
          <p:nvPr/>
        </p:nvSpPr>
        <p:spPr>
          <a:xfrm>
            <a:off x="457200" y="960120"/>
            <a:ext cx="40233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96012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TIME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Adjacency Matrix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best for dense graphs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96012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O(V²)</a:t>
            </a:r>
            <a:endParaRPr lang="en-US" sz="2600" dirty="0"/>
          </a:p>
        </p:txBody>
      </p:sp>
      <p:sp>
        <p:nvSpPr>
          <p:cNvPr id="6" name="Time complexity Priority Queue / Min-Heap"/>
          <p:cNvSpPr/>
          <p:nvPr/>
        </p:nvSpPr>
        <p:spPr>
          <a:xfrm>
            <a:off x="457200" y="2240280"/>
            <a:ext cx="402336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TIME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Priority Queue / Min-Heap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best for sparse graphs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240280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chemeClr val="accent1"/>
                </a:solidFill>
              </a:rPr>
              <a:t>O(E log V)</a:t>
            </a:r>
            <a:endParaRPr lang="en-US" sz="2600" dirty="0"/>
          </a:p>
        </p:txBody>
      </p:sp>
      <p:sp>
        <p:nvSpPr>
          <p:cNvPr id="9" name="Space complexity"/>
          <p:cNvSpPr/>
          <p:nvPr/>
        </p:nvSpPr>
        <p:spPr>
          <a:xfrm>
            <a:off x="457200" y="3520440"/>
            <a:ext cx="402336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520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5"/>
                </a:solidFill>
              </a:rPr>
              <a:t>SPACE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O(V)</a:t>
            </a:r>
            <a:r>
              <a:rPr lang="en-US" sz="1400" dirty="0">
                <a:solidFill>
                  <a:schemeClr val="tx1"/>
                </a:solidFill>
              </a:rPr>
              <a:t> extra for key, parent and visited. The graph needs O(V²) as a matrix or O(V + E) as a list.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9326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Applications</a:t>
            </a:r>
            <a:endParaRPr lang="en-US" sz="1800" dirty="0"/>
          </a:p>
        </p:txBody>
      </p:sp>
      <p:sp>
        <p:nvSpPr>
          <p:cNvPr id="12" name="Application Computer networks"/>
          <p:cNvSpPr/>
          <p:nvPr/>
        </p:nvSpPr>
        <p:spPr>
          <a:xfrm>
            <a:off x="4663440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3" name="Computer networks circle"/>
          <p:cNvSpPr/>
          <p:nvPr/>
        </p:nvSpPr>
        <p:spPr>
          <a:xfrm>
            <a:off x="4828032" y="151790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Computer networks icon" descr="Computer network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165" y="1666037"/>
            <a:ext cx="252374" cy="25237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828032" y="217627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Computer networks</a:t>
            </a:r>
            <a:endParaRPr lang="en-US" sz="1400" dirty="0"/>
          </a:p>
        </p:txBody>
      </p:sp>
      <p:sp>
        <p:nvSpPr>
          <p:cNvPr id="16" name="Application Electrical grid design"/>
          <p:cNvSpPr/>
          <p:nvPr/>
        </p:nvSpPr>
        <p:spPr>
          <a:xfrm>
            <a:off x="6766560" y="137160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17" name="Electrical grid design circle"/>
          <p:cNvSpPr/>
          <p:nvPr/>
        </p:nvSpPr>
        <p:spPr>
          <a:xfrm>
            <a:off x="6931152" y="151790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Electrical grid design icon" descr="Electrical grid desig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285" y="1666037"/>
            <a:ext cx="252374" cy="25237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931152" y="217627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Electrical grid design</a:t>
            </a:r>
            <a:endParaRPr lang="en-US" sz="1400" dirty="0"/>
          </a:p>
        </p:txBody>
      </p:sp>
      <p:sp>
        <p:nvSpPr>
          <p:cNvPr id="20" name="Application Road and railway network planning"/>
          <p:cNvSpPr/>
          <p:nvPr/>
        </p:nvSpPr>
        <p:spPr>
          <a:xfrm>
            <a:off x="4663440" y="306324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1" name="Road and railway network planning circle"/>
          <p:cNvSpPr/>
          <p:nvPr/>
        </p:nvSpPr>
        <p:spPr>
          <a:xfrm>
            <a:off x="4828032" y="32095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2" name="Road and railway network planning icon" descr="Road and railway network plann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6165" y="3357677"/>
            <a:ext cx="252374" cy="25237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828032" y="38679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Road and railway network planning</a:t>
            </a:r>
            <a:endParaRPr lang="en-US" sz="1400" dirty="0"/>
          </a:p>
        </p:txBody>
      </p:sp>
      <p:sp>
        <p:nvSpPr>
          <p:cNvPr id="24" name="Application Telecommunication networks"/>
          <p:cNvSpPr/>
          <p:nvPr/>
        </p:nvSpPr>
        <p:spPr>
          <a:xfrm>
            <a:off x="6766560" y="306324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</p:spPr>
      </p:sp>
      <p:sp>
        <p:nvSpPr>
          <p:cNvPr id="25" name="Telecommunication networks circle"/>
          <p:cNvSpPr/>
          <p:nvPr/>
        </p:nvSpPr>
        <p:spPr>
          <a:xfrm>
            <a:off x="6931152" y="320954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Telecommunication networks icon" descr="Telecommunication network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9285" y="3357677"/>
            <a:ext cx="252374" cy="25237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931152" y="3867912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Telecommunication networks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Conclusion point 1 circle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Conclusion point 1 icon" descr="Conclusion point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" y="1324508"/>
            <a:ext cx="231343" cy="2313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0972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Prim’s Algorithm is a </a:t>
            </a:r>
            <a:r>
              <a:rPr lang="en-US" sz="1700" b="1" dirty="0">
                <a:solidFill>
                  <a:schemeClr val="accent2"/>
                </a:solidFill>
              </a:rPr>
              <a:t>greedy algorithm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  <p:sp>
        <p:nvSpPr>
          <p:cNvPr id="6" name="Conclusion point 2 circle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Conclusion point 2 icon" descr="Conclusion point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" y="2193188"/>
            <a:ext cx="231343" cy="23134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88720" y="19659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It finds a </a:t>
            </a:r>
            <a:r>
              <a:rPr lang="en-US" sz="1700" b="1" dirty="0">
                <a:solidFill>
                  <a:schemeClr val="accent2"/>
                </a:solidFill>
              </a:rPr>
              <a:t>Minimum Spanning Tree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  <p:sp>
        <p:nvSpPr>
          <p:cNvPr id="9" name="Conclusion point 3 circle"/>
          <p:cNvSpPr/>
          <p:nvPr/>
        </p:nvSpPr>
        <p:spPr>
          <a:xfrm>
            <a:off x="457200" y="2926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Conclusion point 3 icon" descr="Conclusion point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" y="3061868"/>
            <a:ext cx="231343" cy="23134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188720" y="2834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It repeatedly selects the </a:t>
            </a:r>
            <a:r>
              <a:rPr lang="en-US" sz="1700" b="1" dirty="0">
                <a:solidFill>
                  <a:schemeClr val="accent2"/>
                </a:solidFill>
              </a:rPr>
              <a:t>minimum-weight valid edge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  <p:sp>
        <p:nvSpPr>
          <p:cNvPr id="12" name="Conclusion point 4 circle"/>
          <p:cNvSpPr/>
          <p:nvPr/>
        </p:nvSpPr>
        <p:spPr>
          <a:xfrm>
            <a:off x="457200" y="379476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Conclusion point 4 icon" descr="Conclusion point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988" y="3930548"/>
            <a:ext cx="231343" cy="231343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88720" y="3703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It is useful for </a:t>
            </a:r>
            <a:r>
              <a:rPr lang="en-US" sz="1700" b="1" dirty="0">
                <a:solidFill>
                  <a:schemeClr val="accent2"/>
                </a:solidFill>
              </a:rPr>
              <a:t>network and infrastructure optimization</a:t>
            </a:r>
            <a:r>
              <a:rPr lang="en-US" sz="1700" dirty="0">
                <a:solidFill>
                  <a:schemeClr val="bg1"/>
                </a:solidFill>
              </a:rPr>
              <a:t>.</a:t>
            </a:r>
            <a:endParaRPr lang="en-US" sz="1700" dirty="0"/>
          </a:p>
        </p:txBody>
      </p:sp>
      <p:sp>
        <p:nvSpPr>
          <p:cNvPr id="15" name="AI declaration"/>
          <p:cNvSpPr/>
          <p:nvPr/>
        </p:nvSpPr>
        <p:spPr>
          <a:xfrm>
            <a:off x="5760720" y="1097280"/>
            <a:ext cx="292608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5943600" y="109728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AI DECLARATION</a:t>
            </a:r>
            <a:endParaRPr lang="en-US" sz="1400" dirty="0"/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Generated using Claude (Anthropic)</a:t>
            </a:r>
            <a:endParaRPr lang="en-US" sz="1400" dirty="0"/>
          </a:p>
        </p:txBody>
      </p:sp>
      <p:sp>
        <p:nvSpPr>
          <p:cNvPr id="17" name="Student details"/>
          <p:cNvSpPr/>
          <p:nvPr/>
        </p:nvSpPr>
        <p:spPr>
          <a:xfrm>
            <a:off x="5760720" y="2834640"/>
            <a:ext cx="2926080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5943600" y="28346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Name: </a:t>
            </a:r>
            <a:r>
              <a:rPr lang="en-US" sz="1600" dirty="0">
                <a:solidFill>
                  <a:schemeClr val="bg1"/>
                </a:solidFill>
              </a:rPr>
              <a:t>Chitransh Phalkey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PRN: </a:t>
            </a:r>
            <a:r>
              <a:rPr lang="en-US" sz="1600" dirty="0">
                <a:solidFill>
                  <a:schemeClr val="bg1"/>
                </a:solidFill>
              </a:rPr>
              <a:t>25070521183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818888"/>
            <a:ext cx="54864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6822" y="-497704"/>
            <a:ext cx="10977643" cy="61389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rim Midnight">
  <a:themeElements>
    <a:clrScheme name="Prim Midnight">
      <a:dk1>
        <a:srgbClr val="0B1F3A"/>
      </a:dk1>
      <a:lt1>
        <a:srgbClr val="FFFFFF"/>
      </a:lt1>
      <a:dk2>
        <a:srgbClr val="143A6B"/>
      </a:dk2>
      <a:lt2>
        <a:srgbClr val="EEF3FB"/>
      </a:lt2>
      <a:accent1>
        <a:srgbClr val="2563EB"/>
      </a:accent1>
      <a:accent2>
        <a:srgbClr val="22D3EE"/>
      </a:accent2>
      <a:accent3>
        <a:srgbClr val="059669"/>
      </a:accent3>
      <a:accent4>
        <a:srgbClr val="F59E0B"/>
      </a:accent4>
      <a:accent5>
        <a:srgbClr val="64748B"/>
      </a:accent5>
      <a:accent6>
        <a:srgbClr val="EF4444"/>
      </a:accent6>
      <a:hlink>
        <a:srgbClr val="2563EB"/>
      </a:hlink>
      <a:folHlink>
        <a:srgbClr val="64748B"/>
      </a:folHlink>
    </a:clrScheme>
    <a:fontScheme name="Prim Midn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1000</Words>
  <Application>Microsoft Office PowerPoint</Application>
  <PresentationFormat>On-screen Show (16:9)</PresentationFormat>
  <Paragraphs>297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Prim Midnight</vt:lpstr>
      <vt:lpstr>Greedy Approach – Prim’s Algorithm</vt:lpstr>
      <vt:lpstr>Introduction to Greedy Approach</vt:lpstr>
      <vt:lpstr>Minimum Spanning Tree (MST)</vt:lpstr>
      <vt:lpstr>Prim’s Algorithm</vt:lpstr>
      <vt:lpstr>Working of Prim’s Algorithm</vt:lpstr>
      <vt:lpstr>Example: Step-by-Step</vt:lpstr>
      <vt:lpstr>Prim’s Algorithm: Pseudocode</vt:lpstr>
      <vt:lpstr>Complexity and Applications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Greedy Approach – Prim’s Algorithm</dc:title>
  <dc:subject>Design and Analysis of Algorithms</dc:subject>
  <dc:creator>Chitransh Phalkey</dc:creator>
  <cp:lastModifiedBy>Asus</cp:lastModifiedBy>
  <cp:revision>2</cp:revision>
  <dcterms:created xsi:type="dcterms:W3CDTF">2026-10-06T08:45:40Z</dcterms:created>
  <dcterms:modified xsi:type="dcterms:W3CDTF">2026-10-06T10:21:34Z</dcterms:modified>
</cp:coreProperties>
</file>